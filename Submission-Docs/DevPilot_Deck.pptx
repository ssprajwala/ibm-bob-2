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012680" y="5029200"/>
            <a:ext cx="146304" cy="146304"/>
          </a:xfrm>
          <a:prstGeom prst="ellipse">
            <a:avLst/>
          </a:prstGeom>
          <a:solidFill>
            <a:srgbClr val="2C3B85"/>
          </a:solidFill>
          <a:ln/>
        </p:spPr>
      </p:sp>
      <p:sp>
        <p:nvSpPr>
          <p:cNvPr id="3" name="Shape 1"/>
          <p:cNvSpPr/>
          <p:nvPr/>
        </p:nvSpPr>
        <p:spPr>
          <a:xfrm>
            <a:off x="10341864" y="4864608"/>
            <a:ext cx="146304" cy="146304"/>
          </a:xfrm>
          <a:prstGeom prst="ellipse">
            <a:avLst/>
          </a:prstGeom>
          <a:solidFill>
            <a:srgbClr val="2C3B85"/>
          </a:solidFill>
          <a:ln/>
        </p:spPr>
      </p:sp>
      <p:sp>
        <p:nvSpPr>
          <p:cNvPr id="4" name="Shape 2"/>
          <p:cNvSpPr/>
          <p:nvPr/>
        </p:nvSpPr>
        <p:spPr>
          <a:xfrm>
            <a:off x="10689336" y="4864608"/>
            <a:ext cx="146304" cy="146304"/>
          </a:xfrm>
          <a:prstGeom prst="ellipse">
            <a:avLst/>
          </a:prstGeom>
          <a:solidFill>
            <a:srgbClr val="2C3B85"/>
          </a:solidFill>
          <a:ln/>
        </p:spPr>
      </p:sp>
      <p:sp>
        <p:nvSpPr>
          <p:cNvPr id="5" name="Shape 3"/>
          <p:cNvSpPr/>
          <p:nvPr/>
        </p:nvSpPr>
        <p:spPr>
          <a:xfrm>
            <a:off x="11018520" y="5029200"/>
            <a:ext cx="146304" cy="146304"/>
          </a:xfrm>
          <a:prstGeom prst="ellipse">
            <a:avLst/>
          </a:prstGeom>
          <a:solidFill>
            <a:srgbClr val="2C3B85"/>
          </a:solidFill>
          <a:ln/>
        </p:spPr>
      </p:sp>
      <p:sp>
        <p:nvSpPr>
          <p:cNvPr id="6" name="Shape 4"/>
          <p:cNvSpPr/>
          <p:nvPr/>
        </p:nvSpPr>
        <p:spPr>
          <a:xfrm>
            <a:off x="10405872" y="5413248"/>
            <a:ext cx="219456" cy="219456"/>
          </a:xfrm>
          <a:prstGeom prst="ellipse">
            <a:avLst/>
          </a:prstGeom>
          <a:solidFill>
            <a:srgbClr val="F2A93B"/>
          </a:solidFill>
          <a:ln/>
        </p:spPr>
      </p:sp>
      <p:sp>
        <p:nvSpPr>
          <p:cNvPr id="7" name="Text 5"/>
          <p:cNvSpPr txBox="1"/>
          <p:nvPr/>
        </p:nvSpPr>
        <p:spPr>
          <a:xfrm>
            <a:off x="822960" y="1188720"/>
            <a:ext cx="7315200" cy="365760"/>
          </a:xfrm>
          <a:prstGeom prst="rect">
            <a:avLst/>
          </a:prstGeom>
          <a:noFill/>
          <a:ln/>
        </p:spPr>
        <p:txBody>
          <a:bodyPr wrap="square" lIns="0" tIns="0" rIns="0" bIns="0" rtlCol="0" anchor="ctr"/>
          <a:lstStyle/>
          <a:p>
            <a:pPr indent="0" marL="0">
              <a:buNone/>
            </a:pPr>
            <a:r>
              <a:rPr lang="en-US" sz="1400" b="1" spc="300" kern="0" dirty="0">
                <a:solidFill>
                  <a:srgbClr val="F2A93B"/>
                </a:solidFill>
                <a:latin typeface="Calibri" pitchFamily="34" charset="0"/>
                <a:ea typeface="Calibri" pitchFamily="34" charset="-122"/>
                <a:cs typeface="Calibri" pitchFamily="34" charset="-120"/>
              </a:rPr>
              <a:t>IBM BOB 2.0 HACKATHON</a:t>
            </a:r>
            <a:endParaRPr lang="en-US" sz="1400" dirty="0"/>
          </a:p>
        </p:txBody>
      </p:sp>
      <p:sp>
        <p:nvSpPr>
          <p:cNvPr id="8" name="Text 6"/>
          <p:cNvSpPr txBox="1"/>
          <p:nvPr/>
        </p:nvSpPr>
        <p:spPr>
          <a:xfrm>
            <a:off x="777240" y="2103120"/>
            <a:ext cx="9144000" cy="1188720"/>
          </a:xfrm>
          <a:prstGeom prst="rect">
            <a:avLst/>
          </a:prstGeom>
          <a:noFill/>
          <a:ln/>
        </p:spPr>
        <p:txBody>
          <a:bodyPr wrap="square" lIns="0" tIns="0" rIns="0" bIns="0" rtlCol="0" anchor="ctr"/>
          <a:lstStyle/>
          <a:p>
            <a:pPr indent="0" marL="0">
              <a:buNone/>
            </a:pPr>
            <a:r>
              <a:rPr lang="en-US" sz="6800" b="1" dirty="0">
                <a:solidFill>
                  <a:srgbClr val="FFFFFF"/>
                </a:solidFill>
                <a:latin typeface="Cambria" pitchFamily="34" charset="0"/>
                <a:ea typeface="Cambria" pitchFamily="34" charset="-122"/>
                <a:cs typeface="Cambria" pitchFamily="34" charset="-120"/>
              </a:rPr>
              <a:t>DevPilot</a:t>
            </a:r>
            <a:endParaRPr lang="en-US" sz="6800" dirty="0"/>
          </a:p>
        </p:txBody>
      </p:sp>
      <p:sp>
        <p:nvSpPr>
          <p:cNvPr id="9" name="Text 7"/>
          <p:cNvSpPr txBox="1"/>
          <p:nvPr/>
        </p:nvSpPr>
        <p:spPr>
          <a:xfrm>
            <a:off x="822960" y="3246120"/>
            <a:ext cx="8961120" cy="914400"/>
          </a:xfrm>
          <a:prstGeom prst="rect">
            <a:avLst/>
          </a:prstGeom>
          <a:noFill/>
          <a:ln/>
        </p:spPr>
        <p:txBody>
          <a:bodyPr wrap="square" lIns="0" tIns="0" rIns="0" bIns="0" rtlCol="0" anchor="ctr"/>
          <a:lstStyle/>
          <a:p>
            <a:pPr indent="0" marL="0">
              <a:lnSpc>
                <a:spcPct val="120000"/>
              </a:lnSpc>
              <a:buNone/>
            </a:pPr>
            <a:r>
              <a:rPr lang="en-US" sz="1700" i="1" dirty="0">
                <a:solidFill>
                  <a:srgbClr val="CADCFC"/>
                </a:solidFill>
                <a:latin typeface="Calibri" pitchFamily="34" charset="0"/>
                <a:ea typeface="Calibri" pitchFamily="34" charset="-122"/>
                <a:cs typeface="Calibri" pitchFamily="34" charset="-120"/>
              </a:rPr>
              <a:t>An AI developer-workflow copilot spanning all 5 example workflows —</a:t>
            </a:r>
            <a:endParaRPr lang="en-US" sz="1700" dirty="0"/>
          </a:p>
          <a:p>
            <a:pPr indent="0" marL="0">
              <a:lnSpc>
                <a:spcPct val="120000"/>
              </a:lnSpc>
              <a:buNone/>
            </a:pPr>
            <a:r>
              <a:rPr lang="en-US" sz="1700" i="1" dirty="0">
                <a:solidFill>
                  <a:srgbClr val="CADCFC"/>
                </a:solidFill>
                <a:latin typeface="Calibri" pitchFamily="34" charset="0"/>
                <a:ea typeface="Calibri" pitchFamily="34" charset="-122"/>
                <a:cs typeface="Calibri" pitchFamily="34" charset="-120"/>
              </a:rPr>
              <a:t>onboarding, review, testing, release, and modernization — cross-checked and proven on a real GitHub repo.</a:t>
            </a:r>
            <a:endParaRPr lang="en-US" sz="1700" dirty="0"/>
          </a:p>
        </p:txBody>
      </p:sp>
      <p:sp>
        <p:nvSpPr>
          <p:cNvPr id="10" name="Text 8"/>
          <p:cNvSpPr txBox="1"/>
          <p:nvPr/>
        </p:nvSpPr>
        <p:spPr>
          <a:xfrm>
            <a:off x="822960" y="5989320"/>
            <a:ext cx="1005840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Built with IBM Bob 2.0  —  Agent Mode  ·  6 Parallel Subagents  ·  Document Understanding  ·  watsonx.ai (pluggable)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28016"/>
            <a:ext cx="7315200" cy="274320"/>
          </a:xfrm>
          <a:prstGeom prst="rect">
            <a:avLst/>
          </a:prstGeom>
          <a:noFill/>
          <a:ln/>
        </p:spPr>
        <p:txBody>
          <a:bodyPr wrap="square" lIns="0" tIns="0" rIns="0" bIns="0"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384048"/>
            <a:ext cx="969264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Five workflows every team runs. Still manual, still disconnected.</a:t>
            </a:r>
            <a:endParaRPr lang="en-US" sz="3000" dirty="0"/>
          </a:p>
        </p:txBody>
      </p:sp>
      <p:sp>
        <p:nvSpPr>
          <p:cNvPr id="4" name="Shape 2"/>
          <p:cNvSpPr/>
          <p:nvPr/>
        </p:nvSpPr>
        <p:spPr>
          <a:xfrm>
            <a:off x="10268712" y="301752"/>
            <a:ext cx="82296" cy="82296"/>
          </a:xfrm>
          <a:prstGeom prst="ellipse">
            <a:avLst/>
          </a:prstGeom>
          <a:solidFill>
            <a:srgbClr val="CADCFC"/>
          </a:solidFill>
          <a:ln/>
        </p:spPr>
      </p:sp>
      <p:sp>
        <p:nvSpPr>
          <p:cNvPr id="5" name="Shape 3"/>
          <p:cNvSpPr/>
          <p:nvPr/>
        </p:nvSpPr>
        <p:spPr>
          <a:xfrm>
            <a:off x="10460736" y="210312"/>
            <a:ext cx="82296" cy="82296"/>
          </a:xfrm>
          <a:prstGeom prst="ellipse">
            <a:avLst/>
          </a:prstGeom>
          <a:solidFill>
            <a:srgbClr val="CADCFC"/>
          </a:solidFill>
          <a:ln/>
        </p:spPr>
      </p:sp>
      <p:sp>
        <p:nvSpPr>
          <p:cNvPr id="6" name="Shape 4"/>
          <p:cNvSpPr/>
          <p:nvPr/>
        </p:nvSpPr>
        <p:spPr>
          <a:xfrm>
            <a:off x="10661904" y="210312"/>
            <a:ext cx="82296" cy="82296"/>
          </a:xfrm>
          <a:prstGeom prst="ellipse">
            <a:avLst/>
          </a:prstGeom>
          <a:solidFill>
            <a:srgbClr val="CADCFC"/>
          </a:solidFill>
          <a:ln/>
        </p:spPr>
      </p:sp>
      <p:sp>
        <p:nvSpPr>
          <p:cNvPr id="7" name="Shape 5"/>
          <p:cNvSpPr/>
          <p:nvPr/>
        </p:nvSpPr>
        <p:spPr>
          <a:xfrm>
            <a:off x="10853928" y="301752"/>
            <a:ext cx="82296" cy="82296"/>
          </a:xfrm>
          <a:prstGeom prst="ellipse">
            <a:avLst/>
          </a:prstGeom>
          <a:solidFill>
            <a:srgbClr val="CADCFC"/>
          </a:solidFill>
          <a:ln/>
        </p:spPr>
      </p:sp>
      <p:sp>
        <p:nvSpPr>
          <p:cNvPr id="8" name="Shape 6"/>
          <p:cNvSpPr/>
          <p:nvPr/>
        </p:nvSpPr>
        <p:spPr>
          <a:xfrm>
            <a:off x="10497312" y="539496"/>
            <a:ext cx="128016" cy="128016"/>
          </a:xfrm>
          <a:prstGeom prst="ellipse">
            <a:avLst/>
          </a:prstGeom>
          <a:solidFill>
            <a:srgbClr val="F2A93B"/>
          </a:solidFill>
          <a:ln/>
        </p:spPr>
      </p:sp>
      <p:sp>
        <p:nvSpPr>
          <p:cNvPr id="9" name="Shape 7"/>
          <p:cNvSpPr/>
          <p:nvPr/>
        </p:nvSpPr>
        <p:spPr>
          <a:xfrm>
            <a:off x="640080" y="1371600"/>
            <a:ext cx="512064" cy="512064"/>
          </a:xfrm>
          <a:prstGeom prst="ellipse">
            <a:avLst/>
          </a:prstGeom>
          <a:solidFill>
            <a:srgbClr val="1E2761"/>
          </a:solidFill>
          <a:ln/>
        </p:spPr>
      </p:sp>
      <p:sp>
        <p:nvSpPr>
          <p:cNvPr id="10" name="Text 8"/>
          <p:cNvSpPr txBox="1"/>
          <p:nvPr/>
        </p:nvSpPr>
        <p:spPr>
          <a:xfrm>
            <a:off x="640080" y="137160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1" name="Text 9"/>
          <p:cNvSpPr txBox="1"/>
          <p:nvPr/>
        </p:nvSpPr>
        <p:spPr>
          <a:xfrm>
            <a:off x="1371600" y="1344168"/>
            <a:ext cx="274320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Onboarding</a:t>
            </a:r>
            <a:endParaRPr lang="en-US" sz="1500" dirty="0"/>
          </a:p>
        </p:txBody>
      </p:sp>
      <p:sp>
        <p:nvSpPr>
          <p:cNvPr id="12" name="Text 10"/>
          <p:cNvSpPr txBox="1"/>
          <p:nvPr/>
        </p:nvSpPr>
        <p:spPr>
          <a:xfrm>
            <a:off x="4206240" y="1344168"/>
            <a:ext cx="7315200" cy="594360"/>
          </a:xfrm>
          <a:prstGeom prst="rect">
            <a:avLst/>
          </a:prstGeom>
          <a:noFill/>
          <a:ln/>
        </p:spPr>
        <p:txBody>
          <a:bodyPr wrap="square" lIns="0" tIns="0" rIns="0" bIns="0" rtlCol="0" anchor="t"/>
          <a:lstStyle/>
          <a:p>
            <a:pPr indent="0" marL="0">
              <a:buNone/>
            </a:pPr>
            <a:r>
              <a:rPr lang="en-US" sz="1300" dirty="0">
                <a:solidFill>
                  <a:srgbClr val="1A1A2E"/>
                </a:solidFill>
                <a:latin typeface="Calibri" pitchFamily="34" charset="0"/>
                <a:ea typeface="Calibri" pitchFamily="34" charset="-122"/>
                <a:cs typeface="Calibri" pitchFamily="34" charset="-120"/>
              </a:rPr>
              <a:t>A new engineer reads unfamiliar code with no map of the architecture — days lost before the first real commit.</a:t>
            </a:r>
            <a:endParaRPr lang="en-US" sz="1300" dirty="0"/>
          </a:p>
        </p:txBody>
      </p:sp>
      <p:sp>
        <p:nvSpPr>
          <p:cNvPr id="13" name="Shape 11"/>
          <p:cNvSpPr/>
          <p:nvPr/>
        </p:nvSpPr>
        <p:spPr>
          <a:xfrm>
            <a:off x="640080" y="2267712"/>
            <a:ext cx="512064" cy="512064"/>
          </a:xfrm>
          <a:prstGeom prst="ellipse">
            <a:avLst/>
          </a:prstGeom>
          <a:solidFill>
            <a:srgbClr val="1E2761"/>
          </a:solidFill>
          <a:ln/>
        </p:spPr>
      </p:sp>
      <p:sp>
        <p:nvSpPr>
          <p:cNvPr id="14" name="Text 12"/>
          <p:cNvSpPr txBox="1"/>
          <p:nvPr/>
        </p:nvSpPr>
        <p:spPr>
          <a:xfrm>
            <a:off x="640080" y="2267712"/>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5" name="Text 13"/>
          <p:cNvSpPr txBox="1"/>
          <p:nvPr/>
        </p:nvSpPr>
        <p:spPr>
          <a:xfrm>
            <a:off x="1371600" y="2240280"/>
            <a:ext cx="274320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Code review</a:t>
            </a:r>
            <a:endParaRPr lang="en-US" sz="1500" dirty="0"/>
          </a:p>
        </p:txBody>
      </p:sp>
      <p:sp>
        <p:nvSpPr>
          <p:cNvPr id="16" name="Text 14"/>
          <p:cNvSpPr txBox="1"/>
          <p:nvPr/>
        </p:nvSpPr>
        <p:spPr>
          <a:xfrm>
            <a:off x="4206240" y="2240280"/>
            <a:ext cx="7315200" cy="594360"/>
          </a:xfrm>
          <a:prstGeom prst="rect">
            <a:avLst/>
          </a:prstGeom>
          <a:noFill/>
          <a:ln/>
        </p:spPr>
        <p:txBody>
          <a:bodyPr wrap="square" lIns="0" tIns="0" rIns="0" bIns="0" rtlCol="0" anchor="t"/>
          <a:lstStyle/>
          <a:p>
            <a:pPr indent="0" marL="0">
              <a:buNone/>
            </a:pPr>
            <a:r>
              <a:rPr lang="en-US" sz="1300" dirty="0">
                <a:solidFill>
                  <a:srgbClr val="1A1A2E"/>
                </a:solidFill>
                <a:latin typeface="Calibri" pitchFamily="34" charset="0"/>
                <a:ea typeface="Calibri" pitchFamily="34" charset="-122"/>
                <a:cs typeface="Calibri" pitchFamily="34" charset="-120"/>
              </a:rPr>
              <a:t>Reviewers re-derive the same risk checklist by eye on every diff — SQL injection, unhandled nulls, secrets.</a:t>
            </a:r>
            <a:endParaRPr lang="en-US" sz="1300" dirty="0"/>
          </a:p>
        </p:txBody>
      </p:sp>
      <p:sp>
        <p:nvSpPr>
          <p:cNvPr id="17" name="Shape 15"/>
          <p:cNvSpPr/>
          <p:nvPr/>
        </p:nvSpPr>
        <p:spPr>
          <a:xfrm>
            <a:off x="640080" y="3163824"/>
            <a:ext cx="512064" cy="512064"/>
          </a:xfrm>
          <a:prstGeom prst="ellipse">
            <a:avLst/>
          </a:prstGeom>
          <a:solidFill>
            <a:srgbClr val="1E2761"/>
          </a:solidFill>
          <a:ln/>
        </p:spPr>
      </p:sp>
      <p:sp>
        <p:nvSpPr>
          <p:cNvPr id="18" name="Text 16"/>
          <p:cNvSpPr txBox="1"/>
          <p:nvPr/>
        </p:nvSpPr>
        <p:spPr>
          <a:xfrm>
            <a:off x="640080" y="3163824"/>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7"/>
          <p:cNvSpPr txBox="1"/>
          <p:nvPr/>
        </p:nvSpPr>
        <p:spPr>
          <a:xfrm>
            <a:off x="1371600" y="3136392"/>
            <a:ext cx="274320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Testing</a:t>
            </a:r>
            <a:endParaRPr lang="en-US" sz="1500" dirty="0"/>
          </a:p>
        </p:txBody>
      </p:sp>
      <p:sp>
        <p:nvSpPr>
          <p:cNvPr id="20" name="Text 18"/>
          <p:cNvSpPr txBox="1"/>
          <p:nvPr/>
        </p:nvSpPr>
        <p:spPr>
          <a:xfrm>
            <a:off x="4206240" y="3136392"/>
            <a:ext cx="7315200" cy="594360"/>
          </a:xfrm>
          <a:prstGeom prst="rect">
            <a:avLst/>
          </a:prstGeom>
          <a:noFill/>
          <a:ln/>
        </p:spPr>
        <p:txBody>
          <a:bodyPr wrap="square" lIns="0" tIns="0" rIns="0" bIns="0" rtlCol="0" anchor="t"/>
          <a:lstStyle/>
          <a:p>
            <a:pPr indent="0" marL="0">
              <a:buNone/>
            </a:pPr>
            <a:r>
              <a:rPr lang="en-US" sz="1300" dirty="0">
                <a:solidFill>
                  <a:srgbClr val="1A1A2E"/>
                </a:solidFill>
                <a:latin typeface="Calibri" pitchFamily="34" charset="0"/>
                <a:ea typeface="Calibri" pitchFamily="34" charset="-122"/>
                <a:cs typeface="Calibri" pitchFamily="34" charset="-120"/>
              </a:rPr>
              <a:t>Coverage gaps go unnoticed until they cause an incident, not before one ships.</a:t>
            </a:r>
            <a:endParaRPr lang="en-US" sz="1300" dirty="0"/>
          </a:p>
        </p:txBody>
      </p:sp>
      <p:sp>
        <p:nvSpPr>
          <p:cNvPr id="21" name="Shape 19"/>
          <p:cNvSpPr/>
          <p:nvPr/>
        </p:nvSpPr>
        <p:spPr>
          <a:xfrm>
            <a:off x="640080" y="4059936"/>
            <a:ext cx="512064" cy="512064"/>
          </a:xfrm>
          <a:prstGeom prst="ellipse">
            <a:avLst/>
          </a:prstGeom>
          <a:solidFill>
            <a:srgbClr val="1E2761"/>
          </a:solidFill>
          <a:ln/>
        </p:spPr>
      </p:sp>
      <p:sp>
        <p:nvSpPr>
          <p:cNvPr id="22" name="Text 20"/>
          <p:cNvSpPr txBox="1"/>
          <p:nvPr/>
        </p:nvSpPr>
        <p:spPr>
          <a:xfrm>
            <a:off x="640080" y="405993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3" name="Text 21"/>
          <p:cNvSpPr txBox="1"/>
          <p:nvPr/>
        </p:nvSpPr>
        <p:spPr>
          <a:xfrm>
            <a:off x="1371600" y="4032504"/>
            <a:ext cx="274320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Release readiness</a:t>
            </a:r>
            <a:endParaRPr lang="en-US" sz="1500" dirty="0"/>
          </a:p>
        </p:txBody>
      </p:sp>
      <p:sp>
        <p:nvSpPr>
          <p:cNvPr id="24" name="Text 22"/>
          <p:cNvSpPr txBox="1"/>
          <p:nvPr/>
        </p:nvSpPr>
        <p:spPr>
          <a:xfrm>
            <a:off x="4206240" y="4032504"/>
            <a:ext cx="7315200" cy="594360"/>
          </a:xfrm>
          <a:prstGeom prst="rect">
            <a:avLst/>
          </a:prstGeom>
          <a:noFill/>
          <a:ln/>
        </p:spPr>
        <p:txBody>
          <a:bodyPr wrap="square" lIns="0" tIns="0" rIns="0" bIns="0" rtlCol="0" anchor="t"/>
          <a:lstStyle/>
          <a:p>
            <a:pPr indent="0" marL="0">
              <a:buNone/>
            </a:pPr>
            <a:r>
              <a:rPr lang="en-US" sz="1300" dirty="0">
                <a:solidFill>
                  <a:srgbClr val="1A1A2E"/>
                </a:solidFill>
                <a:latin typeface="Calibri" pitchFamily="34" charset="0"/>
                <a:ea typeface="Calibri" pitchFamily="34" charset="-122"/>
                <a:cs typeface="Calibri" pitchFamily="34" charset="-120"/>
              </a:rPr>
              <a:t>Sign-off is a manual checklist, and dependency or deployment steps are easy to skip under deadline pressure.</a:t>
            </a:r>
            <a:endParaRPr lang="en-US" sz="1300" dirty="0"/>
          </a:p>
        </p:txBody>
      </p:sp>
      <p:sp>
        <p:nvSpPr>
          <p:cNvPr id="25" name="Shape 23"/>
          <p:cNvSpPr/>
          <p:nvPr/>
        </p:nvSpPr>
        <p:spPr>
          <a:xfrm>
            <a:off x="640080" y="4956048"/>
            <a:ext cx="512064" cy="512064"/>
          </a:xfrm>
          <a:prstGeom prst="ellipse">
            <a:avLst/>
          </a:prstGeom>
          <a:solidFill>
            <a:srgbClr val="1E2761"/>
          </a:solidFill>
          <a:ln/>
        </p:spPr>
      </p:sp>
      <p:sp>
        <p:nvSpPr>
          <p:cNvPr id="26" name="Text 24"/>
          <p:cNvSpPr txBox="1"/>
          <p:nvPr/>
        </p:nvSpPr>
        <p:spPr>
          <a:xfrm>
            <a:off x="640080" y="495604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7" name="Text 25"/>
          <p:cNvSpPr txBox="1"/>
          <p:nvPr/>
        </p:nvSpPr>
        <p:spPr>
          <a:xfrm>
            <a:off x="1371600" y="4928616"/>
            <a:ext cx="274320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Legacy modernization</a:t>
            </a:r>
            <a:endParaRPr lang="en-US" sz="1500" dirty="0"/>
          </a:p>
        </p:txBody>
      </p:sp>
      <p:sp>
        <p:nvSpPr>
          <p:cNvPr id="28" name="Text 26"/>
          <p:cNvSpPr txBox="1"/>
          <p:nvPr/>
        </p:nvSpPr>
        <p:spPr>
          <a:xfrm>
            <a:off x="4206240" y="4928616"/>
            <a:ext cx="7315200" cy="594360"/>
          </a:xfrm>
          <a:prstGeom prst="rect">
            <a:avLst/>
          </a:prstGeom>
          <a:noFill/>
          <a:ln/>
        </p:spPr>
        <p:txBody>
          <a:bodyPr wrap="square" lIns="0" tIns="0" rIns="0" bIns="0" rtlCol="0" anchor="t"/>
          <a:lstStyle/>
          <a:p>
            <a:pPr indent="0" marL="0">
              <a:buNone/>
            </a:pPr>
            <a:r>
              <a:rPr lang="en-US" sz="1300" dirty="0">
                <a:solidFill>
                  <a:srgbClr val="1A1A2E"/>
                </a:solidFill>
                <a:latin typeface="Calibri" pitchFamily="34" charset="0"/>
                <a:ea typeface="Calibri" pitchFamily="34" charset="-122"/>
                <a:cs typeface="Calibri" pitchFamily="34" charset="-120"/>
              </a:rPr>
              <a:t>Tech debt (oversized functions, missing type hints, brittle pinning) piles up with no systematic way to triage it.</a:t>
            </a:r>
            <a:endParaRPr lang="en-US" sz="1300" dirty="0"/>
          </a:p>
        </p:txBody>
      </p:sp>
      <p:sp>
        <p:nvSpPr>
          <p:cNvPr id="29" name="Text 27"/>
          <p:cNvSpPr txBox="1"/>
          <p:nvPr/>
        </p:nvSpPr>
        <p:spPr>
          <a:xfrm>
            <a:off x="548640" y="6528816"/>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DevPilot — IBM Bob 2.0 Hackathon</a:t>
            </a:r>
            <a:endParaRPr lang="en-US" sz="1000" dirty="0"/>
          </a:p>
        </p:txBody>
      </p:sp>
      <p:sp>
        <p:nvSpPr>
          <p:cNvPr id="30" name="Text 28"/>
          <p:cNvSpPr txBox="1"/>
          <p:nvPr/>
        </p:nvSpPr>
        <p:spPr>
          <a:xfrm>
            <a:off x="11521440" y="6528816"/>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28016"/>
            <a:ext cx="7315200" cy="274320"/>
          </a:xfrm>
          <a:prstGeom prst="rect">
            <a:avLst/>
          </a:prstGeom>
          <a:noFill/>
          <a:ln/>
        </p:spPr>
        <p:txBody>
          <a:bodyPr wrap="square" lIns="0" tIns="0" rIns="0" bIns="0"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THE SOLUTION</a:t>
            </a:r>
            <a:endParaRPr lang="en-US" sz="1200" dirty="0"/>
          </a:p>
        </p:txBody>
      </p:sp>
      <p:sp>
        <p:nvSpPr>
          <p:cNvPr id="3" name="Text 1"/>
          <p:cNvSpPr txBox="1"/>
          <p:nvPr/>
        </p:nvSpPr>
        <p:spPr>
          <a:xfrm>
            <a:off x="548640" y="384048"/>
            <a:ext cx="969264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One orchestrator. Six subagents, in parallel. One report.</a:t>
            </a:r>
            <a:endParaRPr lang="en-US" sz="3000" dirty="0"/>
          </a:p>
        </p:txBody>
      </p:sp>
      <p:sp>
        <p:nvSpPr>
          <p:cNvPr id="4" name="Shape 2"/>
          <p:cNvSpPr/>
          <p:nvPr/>
        </p:nvSpPr>
        <p:spPr>
          <a:xfrm>
            <a:off x="10268712" y="301752"/>
            <a:ext cx="82296" cy="82296"/>
          </a:xfrm>
          <a:prstGeom prst="ellipse">
            <a:avLst/>
          </a:prstGeom>
          <a:solidFill>
            <a:srgbClr val="CADCFC"/>
          </a:solidFill>
          <a:ln/>
        </p:spPr>
      </p:sp>
      <p:sp>
        <p:nvSpPr>
          <p:cNvPr id="5" name="Shape 3"/>
          <p:cNvSpPr/>
          <p:nvPr/>
        </p:nvSpPr>
        <p:spPr>
          <a:xfrm>
            <a:off x="10460736" y="210312"/>
            <a:ext cx="82296" cy="82296"/>
          </a:xfrm>
          <a:prstGeom prst="ellipse">
            <a:avLst/>
          </a:prstGeom>
          <a:solidFill>
            <a:srgbClr val="CADCFC"/>
          </a:solidFill>
          <a:ln/>
        </p:spPr>
      </p:sp>
      <p:sp>
        <p:nvSpPr>
          <p:cNvPr id="6" name="Shape 4"/>
          <p:cNvSpPr/>
          <p:nvPr/>
        </p:nvSpPr>
        <p:spPr>
          <a:xfrm>
            <a:off x="10661904" y="210312"/>
            <a:ext cx="82296" cy="82296"/>
          </a:xfrm>
          <a:prstGeom prst="ellipse">
            <a:avLst/>
          </a:prstGeom>
          <a:solidFill>
            <a:srgbClr val="CADCFC"/>
          </a:solidFill>
          <a:ln/>
        </p:spPr>
      </p:sp>
      <p:sp>
        <p:nvSpPr>
          <p:cNvPr id="7" name="Shape 5"/>
          <p:cNvSpPr/>
          <p:nvPr/>
        </p:nvSpPr>
        <p:spPr>
          <a:xfrm>
            <a:off x="10853928" y="301752"/>
            <a:ext cx="82296" cy="82296"/>
          </a:xfrm>
          <a:prstGeom prst="ellipse">
            <a:avLst/>
          </a:prstGeom>
          <a:solidFill>
            <a:srgbClr val="CADCFC"/>
          </a:solidFill>
          <a:ln/>
        </p:spPr>
      </p:sp>
      <p:sp>
        <p:nvSpPr>
          <p:cNvPr id="8" name="Shape 6"/>
          <p:cNvSpPr/>
          <p:nvPr/>
        </p:nvSpPr>
        <p:spPr>
          <a:xfrm>
            <a:off x="10497312" y="539496"/>
            <a:ext cx="128016" cy="128016"/>
          </a:xfrm>
          <a:prstGeom prst="ellipse">
            <a:avLst/>
          </a:prstGeom>
          <a:solidFill>
            <a:srgbClr val="F2A93B"/>
          </a:solidFill>
          <a:ln/>
        </p:spPr>
      </p:sp>
      <p:sp>
        <p:nvSpPr>
          <p:cNvPr id="9" name="Shape 7"/>
          <p:cNvSpPr/>
          <p:nvPr/>
        </p:nvSpPr>
        <p:spPr>
          <a:xfrm>
            <a:off x="4251960" y="1325880"/>
            <a:ext cx="3657600" cy="777240"/>
          </a:xfrm>
          <a:prstGeom prst="roundRect">
            <a:avLst>
              <a:gd name="adj" fmla="val 9412"/>
            </a:avLst>
          </a:prstGeom>
          <a:solidFill>
            <a:srgbClr val="1E2761"/>
          </a:solidFill>
          <a:ln w="12700">
            <a:solidFill>
              <a:srgbClr val="1E2761"/>
            </a:solidFill>
            <a:prstDash val="solid"/>
          </a:ln>
          <a:effectLst>
            <a:outerShdw sx="100000" sy="100000" kx="0" ky="0" algn="bl" rotWithShape="0" blurRad="101600" dist="38100" dir="5400000">
              <a:srgbClr val="1E2761">
                <a:alpha val="12000"/>
              </a:srgbClr>
            </a:outerShdw>
          </a:effectLst>
        </p:spPr>
      </p:sp>
      <p:sp>
        <p:nvSpPr>
          <p:cNvPr id="10" name="Text 8"/>
          <p:cNvSpPr txBox="1"/>
          <p:nvPr/>
        </p:nvSpPr>
        <p:spPr>
          <a:xfrm>
            <a:off x="4251960" y="1389888"/>
            <a:ext cx="3657600"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DevPilot Orchestrator</a:t>
            </a:r>
            <a:endParaRPr lang="en-US" sz="1500" dirty="0"/>
          </a:p>
        </p:txBody>
      </p:sp>
      <p:sp>
        <p:nvSpPr>
          <p:cNvPr id="11" name="Text 9"/>
          <p:cNvSpPr txBox="1"/>
          <p:nvPr/>
        </p:nvSpPr>
        <p:spPr>
          <a:xfrm>
            <a:off x="4251960" y="1709928"/>
            <a:ext cx="3657600" cy="320040"/>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Agent mode — plans work, dispatches subagents</a:t>
            </a:r>
            <a:endParaRPr lang="en-US" sz="1050" dirty="0"/>
          </a:p>
        </p:txBody>
      </p:sp>
      <p:sp>
        <p:nvSpPr>
          <p:cNvPr id="12" name="Shape 10"/>
          <p:cNvSpPr/>
          <p:nvPr/>
        </p:nvSpPr>
        <p:spPr>
          <a:xfrm>
            <a:off x="6080760" y="2103120"/>
            <a:ext cx="-4695444" cy="594360"/>
          </a:xfrm>
          <a:prstGeom prst="line">
            <a:avLst/>
          </a:prstGeom>
          <a:noFill/>
          <a:ln w="19050">
            <a:solidFill>
              <a:srgbClr val="B9C4E0"/>
            </a:solidFill>
            <a:prstDash val="solid"/>
          </a:ln>
        </p:spPr>
      </p:sp>
      <p:sp>
        <p:nvSpPr>
          <p:cNvPr id="13" name="Shape 11"/>
          <p:cNvSpPr/>
          <p:nvPr/>
        </p:nvSpPr>
        <p:spPr>
          <a:xfrm>
            <a:off x="548640" y="2697480"/>
            <a:ext cx="1673352" cy="1234440"/>
          </a:xfrm>
          <a:prstGeom prst="roundRect">
            <a:avLst>
              <a:gd name="adj" fmla="val 5926"/>
            </a:avLst>
          </a:prstGeom>
          <a:solidFill>
            <a:srgbClr val="F4F6FB"/>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14" name="Shape 12"/>
          <p:cNvSpPr/>
          <p:nvPr/>
        </p:nvSpPr>
        <p:spPr>
          <a:xfrm>
            <a:off x="676656" y="2825496"/>
            <a:ext cx="237744" cy="237744"/>
          </a:xfrm>
          <a:prstGeom prst="roundRect">
            <a:avLst>
              <a:gd name="adj" fmla="val 19231"/>
            </a:avLst>
          </a:prstGeom>
          <a:solidFill>
            <a:srgbClr val="F2A93B"/>
          </a:solidFill>
          <a:ln/>
        </p:spPr>
      </p:sp>
      <p:sp>
        <p:nvSpPr>
          <p:cNvPr id="15" name="Text 13"/>
          <p:cNvSpPr txBox="1"/>
          <p:nvPr/>
        </p:nvSpPr>
        <p:spPr>
          <a:xfrm>
            <a:off x="658368" y="3136392"/>
            <a:ext cx="1453896" cy="457200"/>
          </a:xfrm>
          <a:prstGeom prst="rect">
            <a:avLst/>
          </a:prstGeom>
          <a:noFill/>
          <a:ln/>
        </p:spPr>
        <p:txBody>
          <a:bodyPr wrap="square" lIns="0" tIns="0" rIns="0" bIns="0" rtlCol="0" anchor="ctr"/>
          <a:lstStyle/>
          <a:p>
            <a:pPr indent="0" marL="0">
              <a:buNone/>
            </a:pPr>
            <a:r>
              <a:rPr lang="en-US" sz="1150" b="1" dirty="0">
                <a:solidFill>
                  <a:srgbClr val="1E2761"/>
                </a:solidFill>
                <a:latin typeface="Cambria" pitchFamily="34" charset="0"/>
                <a:ea typeface="Cambria" pitchFamily="34" charset="-122"/>
                <a:cs typeface="Cambria" pitchFamily="34" charset="-120"/>
              </a:rPr>
              <a:t>Onboarding</a:t>
            </a:r>
            <a:endParaRPr lang="en-US" sz="1150" dirty="0"/>
          </a:p>
        </p:txBody>
      </p:sp>
      <p:sp>
        <p:nvSpPr>
          <p:cNvPr id="16" name="Text 14"/>
          <p:cNvSpPr txBox="1"/>
          <p:nvPr/>
        </p:nvSpPr>
        <p:spPr>
          <a:xfrm>
            <a:off x="658368" y="3566160"/>
            <a:ext cx="1453896" cy="365760"/>
          </a:xfrm>
          <a:prstGeom prst="rect">
            <a:avLst/>
          </a:prstGeom>
          <a:noFill/>
          <a:ln/>
        </p:spPr>
        <p:txBody>
          <a:bodyPr wrap="square" lIns="0" tIns="0" rIns="0" bIns="0" rtlCol="0" anchor="ctr"/>
          <a:lstStyle/>
          <a:p>
            <a:pPr indent="0" marL="0">
              <a:buNone/>
            </a:pPr>
            <a:r>
              <a:rPr lang="en-US" sz="870" dirty="0">
                <a:solidFill>
                  <a:srgbClr val="5B6B8C"/>
                </a:solidFill>
                <a:latin typeface="Calibri" pitchFamily="34" charset="0"/>
                <a:ea typeface="Calibri" pitchFamily="34" charset="-122"/>
                <a:cs typeface="Calibri" pitchFamily="34" charset="-120"/>
              </a:rPr>
              <a:t>Architecture map + tasks</a:t>
            </a:r>
            <a:endParaRPr lang="en-US" sz="870" dirty="0"/>
          </a:p>
        </p:txBody>
      </p:sp>
      <p:sp>
        <p:nvSpPr>
          <p:cNvPr id="17" name="Shape 15"/>
          <p:cNvSpPr/>
          <p:nvPr/>
        </p:nvSpPr>
        <p:spPr>
          <a:xfrm>
            <a:off x="6080760" y="2103120"/>
            <a:ext cx="-2894076" cy="594360"/>
          </a:xfrm>
          <a:prstGeom prst="line">
            <a:avLst/>
          </a:prstGeom>
          <a:noFill/>
          <a:ln w="19050">
            <a:solidFill>
              <a:srgbClr val="B9C4E0"/>
            </a:solidFill>
            <a:prstDash val="solid"/>
          </a:ln>
        </p:spPr>
      </p:sp>
      <p:sp>
        <p:nvSpPr>
          <p:cNvPr id="18" name="Shape 16"/>
          <p:cNvSpPr/>
          <p:nvPr/>
        </p:nvSpPr>
        <p:spPr>
          <a:xfrm>
            <a:off x="2350008" y="2697480"/>
            <a:ext cx="1673352" cy="1234440"/>
          </a:xfrm>
          <a:prstGeom prst="roundRect">
            <a:avLst>
              <a:gd name="adj" fmla="val 5926"/>
            </a:avLst>
          </a:prstGeom>
          <a:solidFill>
            <a:srgbClr val="F4F6FB"/>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19" name="Shape 17"/>
          <p:cNvSpPr/>
          <p:nvPr/>
        </p:nvSpPr>
        <p:spPr>
          <a:xfrm>
            <a:off x="2478024" y="2825496"/>
            <a:ext cx="237744" cy="237744"/>
          </a:xfrm>
          <a:prstGeom prst="roundRect">
            <a:avLst>
              <a:gd name="adj" fmla="val 19231"/>
            </a:avLst>
          </a:prstGeom>
          <a:solidFill>
            <a:srgbClr val="F2A93B"/>
          </a:solidFill>
          <a:ln/>
        </p:spPr>
      </p:sp>
      <p:sp>
        <p:nvSpPr>
          <p:cNvPr id="20" name="Text 18"/>
          <p:cNvSpPr txBox="1"/>
          <p:nvPr/>
        </p:nvSpPr>
        <p:spPr>
          <a:xfrm>
            <a:off x="2459736" y="3136392"/>
            <a:ext cx="1453896" cy="457200"/>
          </a:xfrm>
          <a:prstGeom prst="rect">
            <a:avLst/>
          </a:prstGeom>
          <a:noFill/>
          <a:ln/>
        </p:spPr>
        <p:txBody>
          <a:bodyPr wrap="square" lIns="0" tIns="0" rIns="0" bIns="0" rtlCol="0" anchor="ctr"/>
          <a:lstStyle/>
          <a:p>
            <a:pPr indent="0" marL="0">
              <a:buNone/>
            </a:pPr>
            <a:r>
              <a:rPr lang="en-US" sz="1150" b="1" dirty="0">
                <a:solidFill>
                  <a:srgbClr val="1E2761"/>
                </a:solidFill>
                <a:latin typeface="Cambria" pitchFamily="34" charset="0"/>
                <a:ea typeface="Cambria" pitchFamily="34" charset="-122"/>
                <a:cs typeface="Cambria" pitchFamily="34" charset="-120"/>
              </a:rPr>
              <a:t>Code Review</a:t>
            </a:r>
            <a:endParaRPr lang="en-US" sz="1150" dirty="0"/>
          </a:p>
        </p:txBody>
      </p:sp>
      <p:sp>
        <p:nvSpPr>
          <p:cNvPr id="21" name="Text 19"/>
          <p:cNvSpPr txBox="1"/>
          <p:nvPr/>
        </p:nvSpPr>
        <p:spPr>
          <a:xfrm>
            <a:off x="2459736" y="3566160"/>
            <a:ext cx="1453896" cy="365760"/>
          </a:xfrm>
          <a:prstGeom prst="rect">
            <a:avLst/>
          </a:prstGeom>
          <a:noFill/>
          <a:ln/>
        </p:spPr>
        <p:txBody>
          <a:bodyPr wrap="square" lIns="0" tIns="0" rIns="0" bIns="0" rtlCol="0" anchor="ctr"/>
          <a:lstStyle/>
          <a:p>
            <a:pPr indent="0" marL="0">
              <a:buNone/>
            </a:pPr>
            <a:r>
              <a:rPr lang="en-US" sz="870" dirty="0">
                <a:solidFill>
                  <a:srgbClr val="5B6B8C"/>
                </a:solidFill>
                <a:latin typeface="Calibri" pitchFamily="34" charset="0"/>
                <a:ea typeface="Calibri" pitchFamily="34" charset="-122"/>
                <a:cs typeface="Calibri" pitchFamily="34" charset="-120"/>
              </a:rPr>
              <a:t>Severity-ranked findings</a:t>
            </a:r>
            <a:endParaRPr lang="en-US" sz="870" dirty="0"/>
          </a:p>
        </p:txBody>
      </p:sp>
      <p:sp>
        <p:nvSpPr>
          <p:cNvPr id="22" name="Shape 20"/>
          <p:cNvSpPr/>
          <p:nvPr/>
        </p:nvSpPr>
        <p:spPr>
          <a:xfrm>
            <a:off x="6080760" y="2103120"/>
            <a:ext cx="-1092708" cy="594360"/>
          </a:xfrm>
          <a:prstGeom prst="line">
            <a:avLst/>
          </a:prstGeom>
          <a:noFill/>
          <a:ln w="19050">
            <a:solidFill>
              <a:srgbClr val="B9C4E0"/>
            </a:solidFill>
            <a:prstDash val="solid"/>
          </a:ln>
        </p:spPr>
      </p:sp>
      <p:sp>
        <p:nvSpPr>
          <p:cNvPr id="23" name="Shape 21"/>
          <p:cNvSpPr/>
          <p:nvPr/>
        </p:nvSpPr>
        <p:spPr>
          <a:xfrm>
            <a:off x="4151376" y="2697480"/>
            <a:ext cx="1673352" cy="1234440"/>
          </a:xfrm>
          <a:prstGeom prst="roundRect">
            <a:avLst>
              <a:gd name="adj" fmla="val 5926"/>
            </a:avLst>
          </a:prstGeom>
          <a:solidFill>
            <a:srgbClr val="F4F6FB"/>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24" name="Shape 22"/>
          <p:cNvSpPr/>
          <p:nvPr/>
        </p:nvSpPr>
        <p:spPr>
          <a:xfrm>
            <a:off x="4279392" y="2825496"/>
            <a:ext cx="237744" cy="237744"/>
          </a:xfrm>
          <a:prstGeom prst="roundRect">
            <a:avLst>
              <a:gd name="adj" fmla="val 19231"/>
            </a:avLst>
          </a:prstGeom>
          <a:solidFill>
            <a:srgbClr val="F2A93B"/>
          </a:solidFill>
          <a:ln/>
        </p:spPr>
      </p:sp>
      <p:sp>
        <p:nvSpPr>
          <p:cNvPr id="25" name="Text 23"/>
          <p:cNvSpPr txBox="1"/>
          <p:nvPr/>
        </p:nvSpPr>
        <p:spPr>
          <a:xfrm>
            <a:off x="4261104" y="3136392"/>
            <a:ext cx="1453896" cy="457200"/>
          </a:xfrm>
          <a:prstGeom prst="rect">
            <a:avLst/>
          </a:prstGeom>
          <a:noFill/>
          <a:ln/>
        </p:spPr>
        <p:txBody>
          <a:bodyPr wrap="square" lIns="0" tIns="0" rIns="0" bIns="0" rtlCol="0" anchor="ctr"/>
          <a:lstStyle/>
          <a:p>
            <a:pPr indent="0" marL="0">
              <a:buNone/>
            </a:pPr>
            <a:r>
              <a:rPr lang="en-US" sz="1150" b="1" dirty="0">
                <a:solidFill>
                  <a:srgbClr val="1E2761"/>
                </a:solidFill>
                <a:latin typeface="Cambria" pitchFamily="34" charset="0"/>
                <a:ea typeface="Cambria" pitchFamily="34" charset="-122"/>
                <a:cs typeface="Cambria" pitchFamily="34" charset="-120"/>
              </a:rPr>
              <a:t>Testing</a:t>
            </a:r>
            <a:endParaRPr lang="en-US" sz="1150" dirty="0"/>
          </a:p>
        </p:txBody>
      </p:sp>
      <p:sp>
        <p:nvSpPr>
          <p:cNvPr id="26" name="Text 24"/>
          <p:cNvSpPr txBox="1"/>
          <p:nvPr/>
        </p:nvSpPr>
        <p:spPr>
          <a:xfrm>
            <a:off x="4261104" y="3566160"/>
            <a:ext cx="1453896" cy="365760"/>
          </a:xfrm>
          <a:prstGeom prst="rect">
            <a:avLst/>
          </a:prstGeom>
          <a:noFill/>
          <a:ln/>
        </p:spPr>
        <p:txBody>
          <a:bodyPr wrap="square" lIns="0" tIns="0" rIns="0" bIns="0" rtlCol="0" anchor="ctr"/>
          <a:lstStyle/>
          <a:p>
            <a:pPr indent="0" marL="0">
              <a:buNone/>
            </a:pPr>
            <a:r>
              <a:rPr lang="en-US" sz="870" dirty="0">
                <a:solidFill>
                  <a:srgbClr val="5B6B8C"/>
                </a:solidFill>
                <a:latin typeface="Calibri" pitchFamily="34" charset="0"/>
                <a:ea typeface="Calibri" pitchFamily="34" charset="-122"/>
                <a:cs typeface="Calibri" pitchFamily="34" charset="-120"/>
              </a:rPr>
              <a:t>Coverage gap + gen. tests</a:t>
            </a:r>
            <a:endParaRPr lang="en-US" sz="870" dirty="0"/>
          </a:p>
        </p:txBody>
      </p:sp>
      <p:sp>
        <p:nvSpPr>
          <p:cNvPr id="27" name="Shape 25"/>
          <p:cNvSpPr/>
          <p:nvPr/>
        </p:nvSpPr>
        <p:spPr>
          <a:xfrm>
            <a:off x="6080760" y="2103120"/>
            <a:ext cx="708660" cy="594360"/>
          </a:xfrm>
          <a:prstGeom prst="line">
            <a:avLst/>
          </a:prstGeom>
          <a:noFill/>
          <a:ln w="19050">
            <a:solidFill>
              <a:srgbClr val="B9C4E0"/>
            </a:solidFill>
            <a:prstDash val="solid"/>
          </a:ln>
        </p:spPr>
      </p:sp>
      <p:sp>
        <p:nvSpPr>
          <p:cNvPr id="28" name="Shape 26"/>
          <p:cNvSpPr/>
          <p:nvPr/>
        </p:nvSpPr>
        <p:spPr>
          <a:xfrm>
            <a:off x="5952744" y="2697480"/>
            <a:ext cx="1673352" cy="1234440"/>
          </a:xfrm>
          <a:prstGeom prst="roundRect">
            <a:avLst>
              <a:gd name="adj" fmla="val 5926"/>
            </a:avLst>
          </a:prstGeom>
          <a:solidFill>
            <a:srgbClr val="F4F6FB"/>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29" name="Shape 27"/>
          <p:cNvSpPr/>
          <p:nvPr/>
        </p:nvSpPr>
        <p:spPr>
          <a:xfrm>
            <a:off x="6080760" y="2825496"/>
            <a:ext cx="237744" cy="237744"/>
          </a:xfrm>
          <a:prstGeom prst="roundRect">
            <a:avLst>
              <a:gd name="adj" fmla="val 19231"/>
            </a:avLst>
          </a:prstGeom>
          <a:solidFill>
            <a:srgbClr val="F2A93B"/>
          </a:solidFill>
          <a:ln/>
        </p:spPr>
      </p:sp>
      <p:sp>
        <p:nvSpPr>
          <p:cNvPr id="30" name="Text 28"/>
          <p:cNvSpPr txBox="1"/>
          <p:nvPr/>
        </p:nvSpPr>
        <p:spPr>
          <a:xfrm>
            <a:off x="6062472" y="3136392"/>
            <a:ext cx="1453896" cy="457200"/>
          </a:xfrm>
          <a:prstGeom prst="rect">
            <a:avLst/>
          </a:prstGeom>
          <a:noFill/>
          <a:ln/>
        </p:spPr>
        <p:txBody>
          <a:bodyPr wrap="square" lIns="0" tIns="0" rIns="0" bIns="0" rtlCol="0" anchor="ctr"/>
          <a:lstStyle/>
          <a:p>
            <a:pPr indent="0" marL="0">
              <a:buNone/>
            </a:pPr>
            <a:r>
              <a:rPr lang="en-US" sz="1150" b="1" dirty="0">
                <a:solidFill>
                  <a:srgbClr val="1E2761"/>
                </a:solidFill>
                <a:latin typeface="Cambria" pitchFamily="34" charset="0"/>
                <a:ea typeface="Cambria" pitchFamily="34" charset="-122"/>
                <a:cs typeface="Cambria" pitchFamily="34" charset="-120"/>
              </a:rPr>
              <a:t>Release Readiness</a:t>
            </a:r>
            <a:endParaRPr lang="en-US" sz="1150" dirty="0"/>
          </a:p>
        </p:txBody>
      </p:sp>
      <p:sp>
        <p:nvSpPr>
          <p:cNvPr id="31" name="Text 29"/>
          <p:cNvSpPr txBox="1"/>
          <p:nvPr/>
        </p:nvSpPr>
        <p:spPr>
          <a:xfrm>
            <a:off x="6062472" y="3566160"/>
            <a:ext cx="1453896" cy="365760"/>
          </a:xfrm>
          <a:prstGeom prst="rect">
            <a:avLst/>
          </a:prstGeom>
          <a:noFill/>
          <a:ln/>
        </p:spPr>
        <p:txBody>
          <a:bodyPr wrap="square" lIns="0" tIns="0" rIns="0" bIns="0" rtlCol="0" anchor="ctr"/>
          <a:lstStyle/>
          <a:p>
            <a:pPr indent="0" marL="0">
              <a:buNone/>
            </a:pPr>
            <a:r>
              <a:rPr lang="en-US" sz="870" dirty="0">
                <a:solidFill>
                  <a:srgbClr val="5B6B8C"/>
                </a:solidFill>
                <a:latin typeface="Calibri" pitchFamily="34" charset="0"/>
                <a:ea typeface="Calibri" pitchFamily="34" charset="-122"/>
                <a:cs typeface="Calibri" pitchFamily="34" charset="-120"/>
              </a:rPr>
              <a:t>GO / NO-GO + notes</a:t>
            </a:r>
            <a:endParaRPr lang="en-US" sz="870" dirty="0"/>
          </a:p>
        </p:txBody>
      </p:sp>
      <p:sp>
        <p:nvSpPr>
          <p:cNvPr id="32" name="Shape 30"/>
          <p:cNvSpPr/>
          <p:nvPr/>
        </p:nvSpPr>
        <p:spPr>
          <a:xfrm>
            <a:off x="6080760" y="2103120"/>
            <a:ext cx="2510028" cy="594360"/>
          </a:xfrm>
          <a:prstGeom prst="line">
            <a:avLst/>
          </a:prstGeom>
          <a:noFill/>
          <a:ln w="19050">
            <a:solidFill>
              <a:srgbClr val="B9C4E0"/>
            </a:solidFill>
            <a:prstDash val="solid"/>
          </a:ln>
        </p:spPr>
      </p:sp>
      <p:sp>
        <p:nvSpPr>
          <p:cNvPr id="33" name="Shape 31"/>
          <p:cNvSpPr/>
          <p:nvPr/>
        </p:nvSpPr>
        <p:spPr>
          <a:xfrm>
            <a:off x="7754112" y="2697480"/>
            <a:ext cx="1673352" cy="1234440"/>
          </a:xfrm>
          <a:prstGeom prst="roundRect">
            <a:avLst>
              <a:gd name="adj" fmla="val 5926"/>
            </a:avLst>
          </a:prstGeom>
          <a:solidFill>
            <a:srgbClr val="F4F6FB"/>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34" name="Shape 32"/>
          <p:cNvSpPr/>
          <p:nvPr/>
        </p:nvSpPr>
        <p:spPr>
          <a:xfrm>
            <a:off x="7882128" y="2825496"/>
            <a:ext cx="237744" cy="237744"/>
          </a:xfrm>
          <a:prstGeom prst="roundRect">
            <a:avLst>
              <a:gd name="adj" fmla="val 19231"/>
            </a:avLst>
          </a:prstGeom>
          <a:solidFill>
            <a:srgbClr val="F2A93B"/>
          </a:solidFill>
          <a:ln/>
        </p:spPr>
      </p:sp>
      <p:sp>
        <p:nvSpPr>
          <p:cNvPr id="35" name="Text 33"/>
          <p:cNvSpPr txBox="1"/>
          <p:nvPr/>
        </p:nvSpPr>
        <p:spPr>
          <a:xfrm>
            <a:off x="7863840" y="3136392"/>
            <a:ext cx="1453896" cy="457200"/>
          </a:xfrm>
          <a:prstGeom prst="rect">
            <a:avLst/>
          </a:prstGeom>
          <a:noFill/>
          <a:ln/>
        </p:spPr>
        <p:txBody>
          <a:bodyPr wrap="square" lIns="0" tIns="0" rIns="0" bIns="0" rtlCol="0" anchor="ctr"/>
          <a:lstStyle/>
          <a:p>
            <a:pPr indent="0" marL="0">
              <a:buNone/>
            </a:pPr>
            <a:r>
              <a:rPr lang="en-US" sz="1150" b="1" dirty="0">
                <a:solidFill>
                  <a:srgbClr val="1E2761"/>
                </a:solidFill>
                <a:latin typeface="Cambria" pitchFamily="34" charset="0"/>
                <a:ea typeface="Cambria" pitchFamily="34" charset="-122"/>
                <a:cs typeface="Cambria" pitchFamily="34" charset="-120"/>
              </a:rPr>
              <a:t>Modernization</a:t>
            </a:r>
            <a:endParaRPr lang="en-US" sz="1150" dirty="0"/>
          </a:p>
        </p:txBody>
      </p:sp>
      <p:sp>
        <p:nvSpPr>
          <p:cNvPr id="36" name="Text 34"/>
          <p:cNvSpPr txBox="1"/>
          <p:nvPr/>
        </p:nvSpPr>
        <p:spPr>
          <a:xfrm>
            <a:off x="7863840" y="3566160"/>
            <a:ext cx="1453896" cy="365760"/>
          </a:xfrm>
          <a:prstGeom prst="rect">
            <a:avLst/>
          </a:prstGeom>
          <a:noFill/>
          <a:ln/>
        </p:spPr>
        <p:txBody>
          <a:bodyPr wrap="square" lIns="0" tIns="0" rIns="0" bIns="0" rtlCol="0" anchor="ctr"/>
          <a:lstStyle/>
          <a:p>
            <a:pPr indent="0" marL="0">
              <a:buNone/>
            </a:pPr>
            <a:r>
              <a:rPr lang="en-US" sz="870" dirty="0">
                <a:solidFill>
                  <a:srgbClr val="5B6B8C"/>
                </a:solidFill>
                <a:latin typeface="Calibri" pitchFamily="34" charset="0"/>
                <a:ea typeface="Calibri" pitchFamily="34" charset="-122"/>
                <a:cs typeface="Calibri" pitchFamily="34" charset="-120"/>
              </a:rPr>
              <a:t>Tech-debt opportunities</a:t>
            </a:r>
            <a:endParaRPr lang="en-US" sz="870" dirty="0"/>
          </a:p>
        </p:txBody>
      </p:sp>
      <p:sp>
        <p:nvSpPr>
          <p:cNvPr id="37" name="Shape 35"/>
          <p:cNvSpPr/>
          <p:nvPr/>
        </p:nvSpPr>
        <p:spPr>
          <a:xfrm>
            <a:off x="6080760" y="2103120"/>
            <a:ext cx="4311396" cy="594360"/>
          </a:xfrm>
          <a:prstGeom prst="line">
            <a:avLst/>
          </a:prstGeom>
          <a:noFill/>
          <a:ln w="19050">
            <a:solidFill>
              <a:srgbClr val="B9C4E0"/>
            </a:solidFill>
            <a:prstDash val="solid"/>
          </a:ln>
        </p:spPr>
      </p:sp>
      <p:sp>
        <p:nvSpPr>
          <p:cNvPr id="38" name="Shape 36"/>
          <p:cNvSpPr/>
          <p:nvPr/>
        </p:nvSpPr>
        <p:spPr>
          <a:xfrm>
            <a:off x="9555480" y="2697480"/>
            <a:ext cx="1673352" cy="1234440"/>
          </a:xfrm>
          <a:prstGeom prst="roundRect">
            <a:avLst>
              <a:gd name="adj" fmla="val 5926"/>
            </a:avLst>
          </a:prstGeom>
          <a:solidFill>
            <a:srgbClr val="F4F6FB"/>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39" name="Shape 37"/>
          <p:cNvSpPr/>
          <p:nvPr/>
        </p:nvSpPr>
        <p:spPr>
          <a:xfrm>
            <a:off x="9683496" y="2825496"/>
            <a:ext cx="237744" cy="237744"/>
          </a:xfrm>
          <a:prstGeom prst="roundRect">
            <a:avLst>
              <a:gd name="adj" fmla="val 19231"/>
            </a:avLst>
          </a:prstGeom>
          <a:solidFill>
            <a:srgbClr val="F2A93B"/>
          </a:solidFill>
          <a:ln/>
        </p:spPr>
      </p:sp>
      <p:sp>
        <p:nvSpPr>
          <p:cNvPr id="40" name="Text 38"/>
          <p:cNvSpPr txBox="1"/>
          <p:nvPr/>
        </p:nvSpPr>
        <p:spPr>
          <a:xfrm>
            <a:off x="9665208" y="3136392"/>
            <a:ext cx="1453896" cy="457200"/>
          </a:xfrm>
          <a:prstGeom prst="rect">
            <a:avLst/>
          </a:prstGeom>
          <a:noFill/>
          <a:ln/>
        </p:spPr>
        <p:txBody>
          <a:bodyPr wrap="square" lIns="0" tIns="0" rIns="0" bIns="0" rtlCol="0" anchor="ctr"/>
          <a:lstStyle/>
          <a:p>
            <a:pPr indent="0" marL="0">
              <a:buNone/>
            </a:pPr>
            <a:r>
              <a:rPr lang="en-US" sz="1150" b="1" dirty="0">
                <a:solidFill>
                  <a:srgbClr val="1E2761"/>
                </a:solidFill>
                <a:latin typeface="Cambria" pitchFamily="34" charset="0"/>
                <a:ea typeface="Cambria" pitchFamily="34" charset="-122"/>
                <a:cs typeface="Cambria" pitchFamily="34" charset="-120"/>
              </a:rPr>
              <a:t>Auto-Fix</a:t>
            </a:r>
            <a:endParaRPr lang="en-US" sz="1150" dirty="0"/>
          </a:p>
        </p:txBody>
      </p:sp>
      <p:sp>
        <p:nvSpPr>
          <p:cNvPr id="41" name="Text 39"/>
          <p:cNvSpPr txBox="1"/>
          <p:nvPr/>
        </p:nvSpPr>
        <p:spPr>
          <a:xfrm>
            <a:off x="9665208" y="3566160"/>
            <a:ext cx="1453896" cy="365760"/>
          </a:xfrm>
          <a:prstGeom prst="rect">
            <a:avLst/>
          </a:prstGeom>
          <a:noFill/>
          <a:ln/>
        </p:spPr>
        <p:txBody>
          <a:bodyPr wrap="square" lIns="0" tIns="0" rIns="0" bIns="0" rtlCol="0" anchor="ctr"/>
          <a:lstStyle/>
          <a:p>
            <a:pPr indent="0" marL="0">
              <a:buNone/>
            </a:pPr>
            <a:r>
              <a:rPr lang="en-US" sz="870" dirty="0">
                <a:solidFill>
                  <a:srgbClr val="5B6B8C"/>
                </a:solidFill>
                <a:latin typeface="Calibri" pitchFamily="34" charset="0"/>
                <a:ea typeface="Calibri" pitchFamily="34" charset="-122"/>
                <a:cs typeface="Calibri" pitchFamily="34" charset="-120"/>
              </a:rPr>
              <a:t>Safe fixes + local commit</a:t>
            </a:r>
            <a:endParaRPr lang="en-US" sz="870" dirty="0"/>
          </a:p>
        </p:txBody>
      </p:sp>
      <p:sp>
        <p:nvSpPr>
          <p:cNvPr id="42" name="Shape 40"/>
          <p:cNvSpPr/>
          <p:nvPr/>
        </p:nvSpPr>
        <p:spPr>
          <a:xfrm>
            <a:off x="6080760" y="3931920"/>
            <a:ext cx="0" cy="320040"/>
          </a:xfrm>
          <a:prstGeom prst="line">
            <a:avLst/>
          </a:prstGeom>
          <a:noFill/>
          <a:ln w="19050">
            <a:solidFill>
              <a:srgbClr val="B9C4E0"/>
            </a:solidFill>
            <a:prstDash val="solid"/>
          </a:ln>
        </p:spPr>
      </p:sp>
      <p:sp>
        <p:nvSpPr>
          <p:cNvPr id="43" name="Shape 41"/>
          <p:cNvSpPr/>
          <p:nvPr/>
        </p:nvSpPr>
        <p:spPr>
          <a:xfrm>
            <a:off x="3108960" y="4251960"/>
            <a:ext cx="5943600" cy="685800"/>
          </a:xfrm>
          <a:prstGeom prst="roundRect">
            <a:avLst>
              <a:gd name="adj" fmla="val 10667"/>
            </a:avLst>
          </a:prstGeom>
          <a:solidFill>
            <a:srgbClr val="141B47"/>
          </a:solidFill>
          <a:ln w="12700">
            <a:solidFill>
              <a:srgbClr val="141B47"/>
            </a:solidFill>
            <a:prstDash val="solid"/>
          </a:ln>
          <a:effectLst>
            <a:outerShdw sx="100000" sy="100000" kx="0" ky="0" algn="bl" rotWithShape="0" blurRad="101600" dist="38100" dir="5400000">
              <a:srgbClr val="1E2761">
                <a:alpha val="12000"/>
              </a:srgbClr>
            </a:outerShdw>
          </a:effectLst>
        </p:spPr>
      </p:sp>
      <p:sp>
        <p:nvSpPr>
          <p:cNvPr id="44" name="Text 42"/>
          <p:cNvSpPr txBox="1"/>
          <p:nvPr/>
        </p:nvSpPr>
        <p:spPr>
          <a:xfrm>
            <a:off x="3108960" y="4251960"/>
            <a:ext cx="594360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Consolidated report — 5 role-scoped views + confirmed-vs-flagged findings</a:t>
            </a:r>
            <a:endParaRPr lang="en-US" sz="1300" dirty="0"/>
          </a:p>
        </p:txBody>
      </p:sp>
      <p:sp>
        <p:nvSpPr>
          <p:cNvPr id="45" name="Text 43"/>
          <p:cNvSpPr txBox="1"/>
          <p:nvPr/>
        </p:nvSpPr>
        <p:spPr>
          <a:xfrm>
            <a:off x="685800" y="5166360"/>
            <a:ext cx="10607040" cy="731520"/>
          </a:xfrm>
          <a:prstGeom prst="rect">
            <a:avLst/>
          </a:prstGeom>
          <a:noFill/>
          <a:ln/>
        </p:spPr>
        <p:txBody>
          <a:bodyPr wrap="square" lIns="0" tIns="0" rIns="0" bIns="0" rtlCol="0" anchor="ctr"/>
          <a:lstStyle/>
          <a:p>
            <a:pPr indent="0" marL="0">
              <a:buNone/>
            </a:pPr>
            <a:r>
              <a:rPr lang="en-US" sz="1200" i="1" dirty="0">
                <a:solidFill>
                  <a:srgbClr val="5B6B8C"/>
                </a:solidFill>
                <a:latin typeface="Calibri" pitchFamily="34" charset="0"/>
                <a:ea typeface="Calibri" pitchFamily="34" charset="-122"/>
                <a:cs typeface="Calibri" pitchFamily="34" charset="-120"/>
              </a:rPr>
              <a:t>Modernization and Auto-Fix are new this iteration. Each subagent runs in its own thread; DevPilot measures the parallel wall-clock time against a sequential-equivalent run rather than asserting the speedup.</a:t>
            </a:r>
            <a:endParaRPr lang="en-US" sz="1200" dirty="0"/>
          </a:p>
        </p:txBody>
      </p:sp>
      <p:sp>
        <p:nvSpPr>
          <p:cNvPr id="46" name="Text 44"/>
          <p:cNvSpPr txBox="1"/>
          <p:nvPr/>
        </p:nvSpPr>
        <p:spPr>
          <a:xfrm>
            <a:off x="548640" y="6528816"/>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DevPilot — IBM Bob 2.0 Hackathon</a:t>
            </a:r>
            <a:endParaRPr lang="en-US" sz="1000" dirty="0"/>
          </a:p>
        </p:txBody>
      </p:sp>
      <p:sp>
        <p:nvSpPr>
          <p:cNvPr id="47" name="Text 45"/>
          <p:cNvSpPr txBox="1"/>
          <p:nvPr/>
        </p:nvSpPr>
        <p:spPr>
          <a:xfrm>
            <a:off x="11521440" y="6528816"/>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28016"/>
            <a:ext cx="7315200" cy="274320"/>
          </a:xfrm>
          <a:prstGeom prst="rect">
            <a:avLst/>
          </a:prstGeom>
          <a:noFill/>
          <a:ln/>
        </p:spPr>
        <p:txBody>
          <a:bodyPr wrap="square" lIns="0" tIns="0" rIns="0" bIns="0"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PROOF #1, NOT A PITCH</a:t>
            </a:r>
            <a:endParaRPr lang="en-US" sz="1200" dirty="0"/>
          </a:p>
        </p:txBody>
      </p:sp>
      <p:sp>
        <p:nvSpPr>
          <p:cNvPr id="3" name="Text 1"/>
          <p:cNvSpPr txBox="1"/>
          <p:nvPr/>
        </p:nvSpPr>
        <p:spPr>
          <a:xfrm>
            <a:off x="548640" y="384048"/>
            <a:ext cx="969264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Run against a real, deployable project — with real bugs</a:t>
            </a:r>
            <a:endParaRPr lang="en-US" sz="3000" dirty="0"/>
          </a:p>
        </p:txBody>
      </p:sp>
      <p:sp>
        <p:nvSpPr>
          <p:cNvPr id="4" name="Shape 2"/>
          <p:cNvSpPr/>
          <p:nvPr/>
        </p:nvSpPr>
        <p:spPr>
          <a:xfrm>
            <a:off x="10268712" y="301752"/>
            <a:ext cx="82296" cy="82296"/>
          </a:xfrm>
          <a:prstGeom prst="ellipse">
            <a:avLst/>
          </a:prstGeom>
          <a:solidFill>
            <a:srgbClr val="CADCFC"/>
          </a:solidFill>
          <a:ln/>
        </p:spPr>
      </p:sp>
      <p:sp>
        <p:nvSpPr>
          <p:cNvPr id="5" name="Shape 3"/>
          <p:cNvSpPr/>
          <p:nvPr/>
        </p:nvSpPr>
        <p:spPr>
          <a:xfrm>
            <a:off x="10460736" y="210312"/>
            <a:ext cx="82296" cy="82296"/>
          </a:xfrm>
          <a:prstGeom prst="ellipse">
            <a:avLst/>
          </a:prstGeom>
          <a:solidFill>
            <a:srgbClr val="CADCFC"/>
          </a:solidFill>
          <a:ln/>
        </p:spPr>
      </p:sp>
      <p:sp>
        <p:nvSpPr>
          <p:cNvPr id="6" name="Shape 4"/>
          <p:cNvSpPr/>
          <p:nvPr/>
        </p:nvSpPr>
        <p:spPr>
          <a:xfrm>
            <a:off x="10661904" y="210312"/>
            <a:ext cx="82296" cy="82296"/>
          </a:xfrm>
          <a:prstGeom prst="ellipse">
            <a:avLst/>
          </a:prstGeom>
          <a:solidFill>
            <a:srgbClr val="CADCFC"/>
          </a:solidFill>
          <a:ln/>
        </p:spPr>
      </p:sp>
      <p:sp>
        <p:nvSpPr>
          <p:cNvPr id="7" name="Shape 5"/>
          <p:cNvSpPr/>
          <p:nvPr/>
        </p:nvSpPr>
        <p:spPr>
          <a:xfrm>
            <a:off x="10853928" y="301752"/>
            <a:ext cx="82296" cy="82296"/>
          </a:xfrm>
          <a:prstGeom prst="ellipse">
            <a:avLst/>
          </a:prstGeom>
          <a:solidFill>
            <a:srgbClr val="CADCFC"/>
          </a:solidFill>
          <a:ln/>
        </p:spPr>
      </p:sp>
      <p:sp>
        <p:nvSpPr>
          <p:cNvPr id="8" name="Shape 6"/>
          <p:cNvSpPr/>
          <p:nvPr/>
        </p:nvSpPr>
        <p:spPr>
          <a:xfrm>
            <a:off x="10497312" y="539496"/>
            <a:ext cx="128016" cy="128016"/>
          </a:xfrm>
          <a:prstGeom prst="ellipse">
            <a:avLst/>
          </a:prstGeom>
          <a:solidFill>
            <a:srgbClr val="F2A93B"/>
          </a:solidFill>
          <a:ln/>
        </p:spPr>
      </p:sp>
      <p:sp>
        <p:nvSpPr>
          <p:cNvPr id="9" name="Shape 7"/>
          <p:cNvSpPr/>
          <p:nvPr/>
        </p:nvSpPr>
        <p:spPr>
          <a:xfrm>
            <a:off x="548640" y="1371600"/>
            <a:ext cx="3749040" cy="4663440"/>
          </a:xfrm>
          <a:prstGeom prst="roundRect">
            <a:avLst>
              <a:gd name="adj" fmla="val 1951"/>
            </a:avLst>
          </a:prstGeom>
          <a:solidFill>
            <a:srgbClr val="F4F6FB"/>
          </a:solidFill>
          <a:ln w="12700">
            <a:solidFill>
              <a:srgbClr val="E1E6F0"/>
            </a:solidFill>
            <a:prstDash val="solid"/>
          </a:ln>
          <a:effectLst>
            <a:outerShdw sx="100000" sy="100000" kx="0" ky="0" algn="bl" rotWithShape="0" blurRad="101600" dist="38100" dir="5400000">
              <a:srgbClr val="1E2761">
                <a:alpha val="12000"/>
              </a:srgbClr>
            </a:outerShdw>
          </a:effectLst>
        </p:spPr>
      </p:sp>
      <p:sp>
        <p:nvSpPr>
          <p:cNvPr id="10" name="Text 8"/>
          <p:cNvSpPr txBox="1"/>
          <p:nvPr/>
        </p:nvSpPr>
        <p:spPr>
          <a:xfrm>
            <a:off x="822960" y="1600200"/>
            <a:ext cx="329184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TaskFlow API</a:t>
            </a:r>
            <a:endParaRPr lang="en-US" sz="1700" dirty="0"/>
          </a:p>
        </p:txBody>
      </p:sp>
      <p:sp>
        <p:nvSpPr>
          <p:cNvPr id="11" name="Text 9"/>
          <p:cNvSpPr txBox="1"/>
          <p:nvPr/>
        </p:nvSpPr>
        <p:spPr>
          <a:xfrm>
            <a:off x="822960" y="2148840"/>
            <a:ext cx="3291840" cy="3566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FastAPI + SQLite task-management service</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Dockerfile — builds and deploys as-is</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Partial test suite (2 of 10 endpoints)</a:t>
            </a:r>
            <a:endParaRPr lang="en-US" sz="1300" dirty="0"/>
          </a:p>
          <a:p>
            <a:pPr marL="342900" indent="-3429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A pending feature-branch diff to review</a:t>
            </a:r>
            <a:endParaRPr lang="en-US" sz="1300" dirty="0"/>
          </a:p>
        </p:txBody>
      </p:sp>
      <p:sp>
        <p:nvSpPr>
          <p:cNvPr id="12" name="Text 10"/>
          <p:cNvSpPr txBox="1"/>
          <p:nvPr/>
        </p:nvSpPr>
        <p:spPr>
          <a:xfrm>
            <a:off x="4663440" y="1417320"/>
            <a:ext cx="6400800" cy="274320"/>
          </a:xfrm>
          <a:prstGeom prst="rect">
            <a:avLst/>
          </a:prstGeom>
          <a:noFill/>
          <a:ln/>
        </p:spPr>
        <p:txBody>
          <a:bodyPr wrap="square" lIns="0" tIns="0" rIns="0" bIns="0" rtlCol="0" anchor="ctr"/>
          <a:lstStyle/>
          <a:p>
            <a:pPr indent="0" marL="0">
              <a:buNone/>
            </a:pPr>
            <a:r>
              <a:rPr lang="en-US" sz="1100" b="1" spc="150" kern="0" dirty="0">
                <a:solidFill>
                  <a:srgbClr val="5B6B8C"/>
                </a:solidFill>
                <a:latin typeface="Calibri" pitchFamily="34" charset="0"/>
                <a:ea typeface="Calibri" pitchFamily="34" charset="-122"/>
                <a:cs typeface="Calibri" pitchFamily="34" charset="-120"/>
              </a:rPr>
              <a:t>SEEDED ISSUES — CAUGHT BY</a:t>
            </a:r>
            <a:endParaRPr lang="en-US" sz="1100" dirty="0"/>
          </a:p>
        </p:txBody>
      </p:sp>
      <p:sp>
        <p:nvSpPr>
          <p:cNvPr id="13" name="Shape 11"/>
          <p:cNvSpPr/>
          <p:nvPr/>
        </p:nvSpPr>
        <p:spPr>
          <a:xfrm>
            <a:off x="4663440" y="1783080"/>
            <a:ext cx="6400800" cy="713232"/>
          </a:xfrm>
          <a:prstGeom prst="roundRect">
            <a:avLst>
              <a:gd name="adj" fmla="val 10256"/>
            </a:avLst>
          </a:prstGeom>
          <a:solidFill>
            <a:srgbClr val="FFFFFF"/>
          </a:solidFill>
          <a:ln w="12700">
            <a:solidFill>
              <a:srgbClr val="E1E6F0"/>
            </a:solidFill>
            <a:prstDash val="solid"/>
          </a:ln>
          <a:effectLst>
            <a:outerShdw sx="100000" sy="100000" kx="0" ky="0" algn="bl" rotWithShape="0" blurRad="101600" dist="38100" dir="5400000">
              <a:srgbClr val="1E2761">
                <a:alpha val="12000"/>
              </a:srgbClr>
            </a:outerShdw>
          </a:effectLst>
        </p:spPr>
      </p:sp>
      <p:sp>
        <p:nvSpPr>
          <p:cNvPr id="14" name="Text 12"/>
          <p:cNvSpPr txBox="1"/>
          <p:nvPr/>
        </p:nvSpPr>
        <p:spPr>
          <a:xfrm>
            <a:off x="4892040" y="1783080"/>
            <a:ext cx="3931920" cy="713232"/>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SQL built with an f-string</a:t>
            </a:r>
            <a:endParaRPr lang="en-US" sz="1300" dirty="0"/>
          </a:p>
        </p:txBody>
      </p:sp>
      <p:sp>
        <p:nvSpPr>
          <p:cNvPr id="15" name="Shape 13"/>
          <p:cNvSpPr/>
          <p:nvPr/>
        </p:nvSpPr>
        <p:spPr>
          <a:xfrm>
            <a:off x="8961120" y="1956816"/>
            <a:ext cx="1920240" cy="365760"/>
          </a:xfrm>
          <a:prstGeom prst="roundRect">
            <a:avLst>
              <a:gd name="adj" fmla="val 50000"/>
            </a:avLst>
          </a:prstGeom>
          <a:solidFill>
            <a:srgbClr val="D64545"/>
          </a:solidFill>
          <a:ln/>
        </p:spPr>
      </p:sp>
      <p:sp>
        <p:nvSpPr>
          <p:cNvPr id="16" name="Text 14"/>
          <p:cNvSpPr txBox="1"/>
          <p:nvPr/>
        </p:nvSpPr>
        <p:spPr>
          <a:xfrm>
            <a:off x="8961120" y="1956816"/>
            <a:ext cx="192024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Code review</a:t>
            </a:r>
            <a:endParaRPr lang="en-US" sz="1050" dirty="0"/>
          </a:p>
        </p:txBody>
      </p:sp>
      <p:sp>
        <p:nvSpPr>
          <p:cNvPr id="17" name="Shape 15"/>
          <p:cNvSpPr/>
          <p:nvPr/>
        </p:nvSpPr>
        <p:spPr>
          <a:xfrm>
            <a:off x="4663440" y="2651760"/>
            <a:ext cx="6400800" cy="713232"/>
          </a:xfrm>
          <a:prstGeom prst="roundRect">
            <a:avLst>
              <a:gd name="adj" fmla="val 10256"/>
            </a:avLst>
          </a:prstGeom>
          <a:solidFill>
            <a:srgbClr val="FFFFFF"/>
          </a:solidFill>
          <a:ln w="12700">
            <a:solidFill>
              <a:srgbClr val="E1E6F0"/>
            </a:solidFill>
            <a:prstDash val="solid"/>
          </a:ln>
          <a:effectLst>
            <a:outerShdw sx="100000" sy="100000" kx="0" ky="0" algn="bl" rotWithShape="0" blurRad="101600" dist="38100" dir="5400000">
              <a:srgbClr val="1E2761">
                <a:alpha val="12000"/>
              </a:srgbClr>
            </a:outerShdw>
          </a:effectLst>
        </p:spPr>
      </p:sp>
      <p:sp>
        <p:nvSpPr>
          <p:cNvPr id="18" name="Text 16"/>
          <p:cNvSpPr txBox="1"/>
          <p:nvPr/>
        </p:nvSpPr>
        <p:spPr>
          <a:xfrm>
            <a:off x="4892040" y="2651760"/>
            <a:ext cx="3931920" cy="713232"/>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2 endpoints skip a null-check</a:t>
            </a:r>
            <a:endParaRPr lang="en-US" sz="1300" dirty="0"/>
          </a:p>
        </p:txBody>
      </p:sp>
      <p:sp>
        <p:nvSpPr>
          <p:cNvPr id="19" name="Shape 17"/>
          <p:cNvSpPr/>
          <p:nvPr/>
        </p:nvSpPr>
        <p:spPr>
          <a:xfrm>
            <a:off x="8961120" y="2825496"/>
            <a:ext cx="1920240" cy="365760"/>
          </a:xfrm>
          <a:prstGeom prst="roundRect">
            <a:avLst>
              <a:gd name="adj" fmla="val 50000"/>
            </a:avLst>
          </a:prstGeom>
          <a:solidFill>
            <a:srgbClr val="D64545"/>
          </a:solidFill>
          <a:ln/>
        </p:spPr>
      </p:sp>
      <p:sp>
        <p:nvSpPr>
          <p:cNvPr id="20" name="Text 18"/>
          <p:cNvSpPr txBox="1"/>
          <p:nvPr/>
        </p:nvSpPr>
        <p:spPr>
          <a:xfrm>
            <a:off x="8961120" y="2825496"/>
            <a:ext cx="192024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Code review</a:t>
            </a:r>
            <a:endParaRPr lang="en-US" sz="1050" dirty="0"/>
          </a:p>
        </p:txBody>
      </p:sp>
      <p:sp>
        <p:nvSpPr>
          <p:cNvPr id="21" name="Shape 19"/>
          <p:cNvSpPr/>
          <p:nvPr/>
        </p:nvSpPr>
        <p:spPr>
          <a:xfrm>
            <a:off x="4663440" y="3520440"/>
            <a:ext cx="6400800" cy="713232"/>
          </a:xfrm>
          <a:prstGeom prst="roundRect">
            <a:avLst>
              <a:gd name="adj" fmla="val 10256"/>
            </a:avLst>
          </a:prstGeom>
          <a:solidFill>
            <a:srgbClr val="FFFFFF"/>
          </a:solidFill>
          <a:ln w="12700">
            <a:solidFill>
              <a:srgbClr val="E1E6F0"/>
            </a:solidFill>
            <a:prstDash val="solid"/>
          </a:ln>
          <a:effectLst>
            <a:outerShdw sx="100000" sy="100000" kx="0" ky="0" algn="bl" rotWithShape="0" blurRad="101600" dist="38100" dir="5400000">
              <a:srgbClr val="1E2761">
                <a:alpha val="12000"/>
              </a:srgbClr>
            </a:outerShdw>
          </a:effectLst>
        </p:spPr>
      </p:sp>
      <p:sp>
        <p:nvSpPr>
          <p:cNvPr id="22" name="Text 20"/>
          <p:cNvSpPr txBox="1"/>
          <p:nvPr/>
        </p:nvSpPr>
        <p:spPr>
          <a:xfrm>
            <a:off x="4892040" y="3520440"/>
            <a:ext cx="3931920" cy="713232"/>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Only 20% endpoint coverage</a:t>
            </a:r>
            <a:endParaRPr lang="en-US" sz="1300" dirty="0"/>
          </a:p>
        </p:txBody>
      </p:sp>
      <p:sp>
        <p:nvSpPr>
          <p:cNvPr id="23" name="Shape 21"/>
          <p:cNvSpPr/>
          <p:nvPr/>
        </p:nvSpPr>
        <p:spPr>
          <a:xfrm>
            <a:off x="8961120" y="3694176"/>
            <a:ext cx="1920240" cy="365760"/>
          </a:xfrm>
          <a:prstGeom prst="roundRect">
            <a:avLst>
              <a:gd name="adj" fmla="val 50000"/>
            </a:avLst>
          </a:prstGeom>
          <a:solidFill>
            <a:srgbClr val="F2A93B"/>
          </a:solidFill>
          <a:ln/>
        </p:spPr>
      </p:sp>
      <p:sp>
        <p:nvSpPr>
          <p:cNvPr id="24" name="Text 22"/>
          <p:cNvSpPr txBox="1"/>
          <p:nvPr/>
        </p:nvSpPr>
        <p:spPr>
          <a:xfrm>
            <a:off x="8961120" y="3694176"/>
            <a:ext cx="192024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Testing</a:t>
            </a:r>
            <a:endParaRPr lang="en-US" sz="1050" dirty="0"/>
          </a:p>
        </p:txBody>
      </p:sp>
      <p:sp>
        <p:nvSpPr>
          <p:cNvPr id="25" name="Shape 23"/>
          <p:cNvSpPr/>
          <p:nvPr/>
        </p:nvSpPr>
        <p:spPr>
          <a:xfrm>
            <a:off x="4663440" y="4389120"/>
            <a:ext cx="6400800" cy="713232"/>
          </a:xfrm>
          <a:prstGeom prst="roundRect">
            <a:avLst>
              <a:gd name="adj" fmla="val 10256"/>
            </a:avLst>
          </a:prstGeom>
          <a:solidFill>
            <a:srgbClr val="FFFFFF"/>
          </a:solidFill>
          <a:ln w="12700">
            <a:solidFill>
              <a:srgbClr val="E1E6F0"/>
            </a:solidFill>
            <a:prstDash val="solid"/>
          </a:ln>
          <a:effectLst>
            <a:outerShdw sx="100000" sy="100000" kx="0" ky="0" algn="bl" rotWithShape="0" blurRad="101600" dist="38100" dir="5400000">
              <a:srgbClr val="1E2761">
                <a:alpha val="12000"/>
              </a:srgbClr>
            </a:outerShdw>
          </a:effectLst>
        </p:spPr>
      </p:sp>
      <p:sp>
        <p:nvSpPr>
          <p:cNvPr id="26" name="Text 24"/>
          <p:cNvSpPr txBox="1"/>
          <p:nvPr/>
        </p:nvSpPr>
        <p:spPr>
          <a:xfrm>
            <a:off x="4892040" y="4389120"/>
            <a:ext cx="3931920" cy="713232"/>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PyYAML pinned to a flagged version</a:t>
            </a:r>
            <a:endParaRPr lang="en-US" sz="1300" dirty="0"/>
          </a:p>
        </p:txBody>
      </p:sp>
      <p:sp>
        <p:nvSpPr>
          <p:cNvPr id="27" name="Shape 25"/>
          <p:cNvSpPr/>
          <p:nvPr/>
        </p:nvSpPr>
        <p:spPr>
          <a:xfrm>
            <a:off x="8961120" y="4562856"/>
            <a:ext cx="1920240" cy="365760"/>
          </a:xfrm>
          <a:prstGeom prst="roundRect">
            <a:avLst>
              <a:gd name="adj" fmla="val 50000"/>
            </a:avLst>
          </a:prstGeom>
          <a:solidFill>
            <a:srgbClr val="D64545"/>
          </a:solidFill>
          <a:ln/>
        </p:spPr>
      </p:sp>
      <p:sp>
        <p:nvSpPr>
          <p:cNvPr id="28" name="Text 26"/>
          <p:cNvSpPr txBox="1"/>
          <p:nvPr/>
        </p:nvSpPr>
        <p:spPr>
          <a:xfrm>
            <a:off x="8961120" y="4562856"/>
            <a:ext cx="192024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Release readiness</a:t>
            </a:r>
            <a:endParaRPr lang="en-US" sz="1050" dirty="0"/>
          </a:p>
        </p:txBody>
      </p:sp>
      <p:sp>
        <p:nvSpPr>
          <p:cNvPr id="29" name="Shape 27"/>
          <p:cNvSpPr/>
          <p:nvPr/>
        </p:nvSpPr>
        <p:spPr>
          <a:xfrm>
            <a:off x="4663440" y="5257800"/>
            <a:ext cx="6400800" cy="713232"/>
          </a:xfrm>
          <a:prstGeom prst="roundRect">
            <a:avLst>
              <a:gd name="adj" fmla="val 10256"/>
            </a:avLst>
          </a:prstGeom>
          <a:solidFill>
            <a:srgbClr val="FFFFFF"/>
          </a:solidFill>
          <a:ln w="12700">
            <a:solidFill>
              <a:srgbClr val="E1E6F0"/>
            </a:solidFill>
            <a:prstDash val="solid"/>
          </a:ln>
          <a:effectLst>
            <a:outerShdw sx="100000" sy="100000" kx="0" ky="0" algn="bl" rotWithShape="0" blurRad="101600" dist="38100" dir="5400000">
              <a:srgbClr val="1E2761">
                <a:alpha val="12000"/>
              </a:srgbClr>
            </a:outerShdw>
          </a:effectLst>
        </p:spPr>
      </p:sp>
      <p:sp>
        <p:nvSpPr>
          <p:cNvPr id="30" name="Text 28"/>
          <p:cNvSpPr txBox="1"/>
          <p:nvPr/>
        </p:nvSpPr>
        <p:spPr>
          <a:xfrm>
            <a:off x="4892040" y="5257800"/>
            <a:ext cx="3931920" cy="713232"/>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6 of 6 modules undocumented</a:t>
            </a:r>
            <a:endParaRPr lang="en-US" sz="1300" dirty="0"/>
          </a:p>
        </p:txBody>
      </p:sp>
      <p:sp>
        <p:nvSpPr>
          <p:cNvPr id="31" name="Shape 29"/>
          <p:cNvSpPr/>
          <p:nvPr/>
        </p:nvSpPr>
        <p:spPr>
          <a:xfrm>
            <a:off x="8961120" y="5431536"/>
            <a:ext cx="1920240" cy="365760"/>
          </a:xfrm>
          <a:prstGeom prst="roundRect">
            <a:avLst>
              <a:gd name="adj" fmla="val 50000"/>
            </a:avLst>
          </a:prstGeom>
          <a:solidFill>
            <a:srgbClr val="F2A93B"/>
          </a:solidFill>
          <a:ln/>
        </p:spPr>
      </p:sp>
      <p:sp>
        <p:nvSpPr>
          <p:cNvPr id="32" name="Text 30"/>
          <p:cNvSpPr txBox="1"/>
          <p:nvPr/>
        </p:nvSpPr>
        <p:spPr>
          <a:xfrm>
            <a:off x="8961120" y="5431536"/>
            <a:ext cx="192024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Onboarding</a:t>
            </a:r>
            <a:endParaRPr lang="en-US" sz="1050" dirty="0"/>
          </a:p>
        </p:txBody>
      </p:sp>
      <p:sp>
        <p:nvSpPr>
          <p:cNvPr id="33" name="Text 31"/>
          <p:cNvSpPr txBox="1"/>
          <p:nvPr/>
        </p:nvSpPr>
        <p:spPr>
          <a:xfrm>
            <a:off x="548640" y="6528816"/>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DevPilot — IBM Bob 2.0 Hackathon</a:t>
            </a:r>
            <a:endParaRPr lang="en-US" sz="1000" dirty="0"/>
          </a:p>
        </p:txBody>
      </p:sp>
      <p:sp>
        <p:nvSpPr>
          <p:cNvPr id="34" name="Text 32"/>
          <p:cNvSpPr txBox="1"/>
          <p:nvPr/>
        </p:nvSpPr>
        <p:spPr>
          <a:xfrm>
            <a:off x="11521440" y="6528816"/>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28016"/>
            <a:ext cx="7315200" cy="274320"/>
          </a:xfrm>
          <a:prstGeom prst="rect">
            <a:avLst/>
          </a:prstGeom>
          <a:noFill/>
          <a:ln/>
        </p:spPr>
        <p:txBody>
          <a:bodyPr wrap="square" lIns="0" tIns="0" rIns="0" bIns="0"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PROOF #2 -- GENERALITY, NOT A DEMO TRICK</a:t>
            </a:r>
            <a:endParaRPr lang="en-US" sz="1200" dirty="0"/>
          </a:p>
        </p:txBody>
      </p:sp>
      <p:sp>
        <p:nvSpPr>
          <p:cNvPr id="3" name="Text 1"/>
          <p:cNvSpPr txBox="1"/>
          <p:nvPr/>
        </p:nvSpPr>
        <p:spPr>
          <a:xfrm>
            <a:off x="548640" y="384048"/>
            <a:ext cx="969264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Cloned live from GitHub. Different framework. Cold run.</a:t>
            </a:r>
            <a:endParaRPr lang="en-US" sz="3000" dirty="0"/>
          </a:p>
        </p:txBody>
      </p:sp>
      <p:sp>
        <p:nvSpPr>
          <p:cNvPr id="4" name="Shape 2"/>
          <p:cNvSpPr/>
          <p:nvPr/>
        </p:nvSpPr>
        <p:spPr>
          <a:xfrm>
            <a:off x="10268712" y="301752"/>
            <a:ext cx="82296" cy="82296"/>
          </a:xfrm>
          <a:prstGeom prst="ellipse">
            <a:avLst/>
          </a:prstGeom>
          <a:solidFill>
            <a:srgbClr val="CADCFC"/>
          </a:solidFill>
          <a:ln/>
        </p:spPr>
      </p:sp>
      <p:sp>
        <p:nvSpPr>
          <p:cNvPr id="5" name="Shape 3"/>
          <p:cNvSpPr/>
          <p:nvPr/>
        </p:nvSpPr>
        <p:spPr>
          <a:xfrm>
            <a:off x="10460736" y="210312"/>
            <a:ext cx="82296" cy="82296"/>
          </a:xfrm>
          <a:prstGeom prst="ellipse">
            <a:avLst/>
          </a:prstGeom>
          <a:solidFill>
            <a:srgbClr val="CADCFC"/>
          </a:solidFill>
          <a:ln/>
        </p:spPr>
      </p:sp>
      <p:sp>
        <p:nvSpPr>
          <p:cNvPr id="6" name="Shape 4"/>
          <p:cNvSpPr/>
          <p:nvPr/>
        </p:nvSpPr>
        <p:spPr>
          <a:xfrm>
            <a:off x="10661904" y="210312"/>
            <a:ext cx="82296" cy="82296"/>
          </a:xfrm>
          <a:prstGeom prst="ellipse">
            <a:avLst/>
          </a:prstGeom>
          <a:solidFill>
            <a:srgbClr val="CADCFC"/>
          </a:solidFill>
          <a:ln/>
        </p:spPr>
      </p:sp>
      <p:sp>
        <p:nvSpPr>
          <p:cNvPr id="7" name="Shape 5"/>
          <p:cNvSpPr/>
          <p:nvPr/>
        </p:nvSpPr>
        <p:spPr>
          <a:xfrm>
            <a:off x="10853928" y="301752"/>
            <a:ext cx="82296" cy="82296"/>
          </a:xfrm>
          <a:prstGeom prst="ellipse">
            <a:avLst/>
          </a:prstGeom>
          <a:solidFill>
            <a:srgbClr val="CADCFC"/>
          </a:solidFill>
          <a:ln/>
        </p:spPr>
      </p:sp>
      <p:sp>
        <p:nvSpPr>
          <p:cNvPr id="8" name="Shape 6"/>
          <p:cNvSpPr/>
          <p:nvPr/>
        </p:nvSpPr>
        <p:spPr>
          <a:xfrm>
            <a:off x="10497312" y="539496"/>
            <a:ext cx="128016" cy="128016"/>
          </a:xfrm>
          <a:prstGeom prst="ellipse">
            <a:avLst/>
          </a:prstGeom>
          <a:solidFill>
            <a:srgbClr val="F2A93B"/>
          </a:solidFill>
          <a:ln/>
        </p:spPr>
      </p:sp>
      <p:sp>
        <p:nvSpPr>
          <p:cNvPr id="9" name="Shape 7"/>
          <p:cNvSpPr/>
          <p:nvPr/>
        </p:nvSpPr>
        <p:spPr>
          <a:xfrm>
            <a:off x="548640" y="1417320"/>
            <a:ext cx="5212080" cy="4617720"/>
          </a:xfrm>
          <a:prstGeom prst="roundRect">
            <a:avLst>
              <a:gd name="adj" fmla="val 1584"/>
            </a:avLst>
          </a:prstGeom>
          <a:solidFill>
            <a:srgbClr val="F4F6FB"/>
          </a:solidFill>
          <a:ln w="12700">
            <a:solidFill>
              <a:srgbClr val="E1E6F0"/>
            </a:solidFill>
            <a:prstDash val="solid"/>
          </a:ln>
          <a:effectLst>
            <a:outerShdw sx="100000" sy="100000" kx="0" ky="0" algn="bl" rotWithShape="0" blurRad="101600" dist="38100" dir="5400000">
              <a:srgbClr val="1E2761">
                <a:alpha val="12000"/>
              </a:srgbClr>
            </a:outerShdw>
          </a:effectLst>
        </p:spPr>
      </p:sp>
      <p:sp>
        <p:nvSpPr>
          <p:cNvPr id="10" name="Text 8"/>
          <p:cNvSpPr txBox="1"/>
          <p:nvPr/>
        </p:nvSpPr>
        <p:spPr>
          <a:xfrm>
            <a:off x="822960" y="1645920"/>
            <a:ext cx="466344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miguelgrinberg / microblog</a:t>
            </a:r>
            <a:endParaRPr lang="en-US" sz="1600" dirty="0"/>
          </a:p>
        </p:txBody>
      </p:sp>
      <p:sp>
        <p:nvSpPr>
          <p:cNvPr id="11" name="Text 9"/>
          <p:cNvSpPr txBox="1"/>
          <p:nvPr/>
        </p:nvSpPr>
        <p:spPr>
          <a:xfrm>
            <a:off x="822960" y="2057400"/>
            <a:ext cx="4663440" cy="548640"/>
          </a:xfrm>
          <a:prstGeom prst="rect">
            <a:avLst/>
          </a:prstGeom>
          <a:noFill/>
          <a:ln/>
        </p:spPr>
        <p:txBody>
          <a:bodyPr wrap="square" lIns="0" tIns="0" rIns="0" bIns="0" rtlCol="0" anchor="ctr"/>
          <a:lstStyle/>
          <a:p>
            <a:pPr indent="0" marL="0">
              <a:buNone/>
            </a:pPr>
            <a:r>
              <a:rPr lang="en-US" sz="1200" i="1" dirty="0">
                <a:solidFill>
                  <a:srgbClr val="5B6B8C"/>
                </a:solidFill>
                <a:latin typeface="Calibri" pitchFamily="34" charset="0"/>
                <a:ea typeface="Calibri" pitchFamily="34" charset="-122"/>
                <a:cs typeface="Calibri" pitchFamily="34" charset="-120"/>
              </a:rPr>
              <a:t>A real, unmodified, popular Flask tutorial app -- fetched with `--repo-url`, never seen or tuned for by DevPilot beforehand.</a:t>
            </a:r>
            <a:endParaRPr lang="en-US" sz="1200" dirty="0"/>
          </a:p>
        </p:txBody>
      </p:sp>
      <p:sp>
        <p:nvSpPr>
          <p:cNvPr id="12" name="Text 10"/>
          <p:cNvSpPr txBox="1"/>
          <p:nvPr/>
        </p:nvSpPr>
        <p:spPr>
          <a:xfrm>
            <a:off x="822960" y="2743200"/>
            <a:ext cx="4663440" cy="310896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A1A2E"/>
                </a:solidFill>
                <a:latin typeface="Calibri" pitchFamily="34" charset="0"/>
                <a:ea typeface="Calibri" pitchFamily="34" charset="-122"/>
                <a:cs typeface="Calibri" pitchFamily="34" charset="-120"/>
              </a:rPr>
              <a:t>Flask, not FastAPI -- proves the scanners aren't framework-hardcoded</a:t>
            </a:r>
            <a:endParaRPr lang="en-US" sz="1250" dirty="0"/>
          </a:p>
          <a:p>
            <a:pPr marL="342900" indent="-342900">
              <a:spcAft>
                <a:spcPts val="1000"/>
              </a:spcAft>
              <a:buSzPct val="100000"/>
              <a:buChar char="•"/>
            </a:pPr>
            <a:r>
              <a:rPr lang="en-US" sz="1250" dirty="0">
                <a:solidFill>
                  <a:srgbClr val="1A1A2E"/>
                </a:solidFill>
                <a:latin typeface="Calibri" pitchFamily="34" charset="0"/>
                <a:ea typeface="Calibri" pitchFamily="34" charset="-122"/>
                <a:cs typeface="Calibri" pitchFamily="34" charset="-120"/>
              </a:rPr>
              <a:t>24 modules, 35 routes auto-detected across blueprints</a:t>
            </a:r>
            <a:endParaRPr lang="en-US" sz="1250" dirty="0"/>
          </a:p>
          <a:p>
            <a:pPr marL="342900" indent="-342900">
              <a:spcAft>
                <a:spcPts val="1000"/>
              </a:spcAft>
              <a:buSzPct val="100000"/>
              <a:buChar char="•"/>
            </a:pPr>
            <a:r>
              <a:rPr lang="en-US" sz="1250" dirty="0">
                <a:solidFill>
                  <a:srgbClr val="1A1A2E"/>
                </a:solidFill>
                <a:latin typeface="Calibri" pitchFamily="34" charset="0"/>
                <a:ea typeface="Calibri" pitchFamily="34" charset="-122"/>
                <a:cs typeface="Calibri" pitchFamily="34" charset="-120"/>
              </a:rPr>
              <a:t>Tests are unittest against models, not an HTTP client</a:t>
            </a:r>
            <a:endParaRPr lang="en-US" sz="1250" dirty="0"/>
          </a:p>
          <a:p>
            <a:pPr marL="342900" indent="-342900">
              <a:spcAft>
                <a:spcPts val="1000"/>
              </a:spcAft>
              <a:buSzPct val="100000"/>
              <a:buChar char="•"/>
            </a:pPr>
            <a:r>
              <a:rPr lang="en-US" sz="1250" dirty="0">
                <a:solidFill>
                  <a:srgbClr val="1A1A2E"/>
                </a:solidFill>
                <a:latin typeface="Calibri" pitchFamily="34" charset="0"/>
                <a:ea typeface="Calibri" pitchFamily="34" charset="-122"/>
                <a:cs typeface="Calibri" pitchFamily="34" charset="-120"/>
              </a:rPr>
              <a:t>0 security findings on a mature, well-reviewed codebase</a:t>
            </a:r>
            <a:endParaRPr lang="en-US" sz="1250" dirty="0"/>
          </a:p>
        </p:txBody>
      </p:sp>
      <p:sp>
        <p:nvSpPr>
          <p:cNvPr id="13" name="Shape 11"/>
          <p:cNvSpPr/>
          <p:nvPr/>
        </p:nvSpPr>
        <p:spPr>
          <a:xfrm>
            <a:off x="6035040" y="1417320"/>
            <a:ext cx="5577840" cy="1024128"/>
          </a:xfrm>
          <a:prstGeom prst="roundRect">
            <a:avLst>
              <a:gd name="adj" fmla="val 7143"/>
            </a:avLst>
          </a:prstGeom>
          <a:solidFill>
            <a:srgbClr val="FFFFFF"/>
          </a:solidFill>
          <a:ln w="12700">
            <a:solidFill>
              <a:srgbClr val="E1E6F0"/>
            </a:solidFill>
            <a:prstDash val="solid"/>
          </a:ln>
          <a:effectLst>
            <a:outerShdw sx="100000" sy="100000" kx="0" ky="0" algn="bl" rotWithShape="0" blurRad="101600" dist="38100" dir="5400000">
              <a:srgbClr val="1E2761">
                <a:alpha val="12000"/>
              </a:srgbClr>
            </a:outerShdw>
          </a:effectLst>
        </p:spPr>
      </p:sp>
      <p:sp>
        <p:nvSpPr>
          <p:cNvPr id="14" name="Text 12"/>
          <p:cNvSpPr txBox="1"/>
          <p:nvPr/>
        </p:nvSpPr>
        <p:spPr>
          <a:xfrm>
            <a:off x="6263640" y="1545336"/>
            <a:ext cx="1463040" cy="77724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35</a:t>
            </a:r>
            <a:endParaRPr lang="en-US" sz="2600" dirty="0"/>
          </a:p>
        </p:txBody>
      </p:sp>
      <p:sp>
        <p:nvSpPr>
          <p:cNvPr id="15" name="Text 13"/>
          <p:cNvSpPr txBox="1"/>
          <p:nvPr/>
        </p:nvSpPr>
        <p:spPr>
          <a:xfrm>
            <a:off x="7772400" y="1545336"/>
            <a:ext cx="3657600" cy="777240"/>
          </a:xfrm>
          <a:prstGeom prst="rect">
            <a:avLst/>
          </a:prstGeom>
          <a:noFill/>
          <a:ln/>
        </p:spPr>
        <p:txBody>
          <a:bodyPr wrap="square" lIns="0" tIns="0" rIns="0" bIns="0" rtlCol="0" anchor="ctr"/>
          <a:lstStyle/>
          <a:p>
            <a:pPr indent="0" marL="0">
              <a:buNone/>
            </a:pPr>
            <a:r>
              <a:rPr lang="en-US" sz="1250" dirty="0">
                <a:solidFill>
                  <a:srgbClr val="5B6B8C"/>
                </a:solidFill>
                <a:latin typeface="Calibri" pitchFamily="34" charset="0"/>
                <a:ea typeface="Calibri" pitchFamily="34" charset="-122"/>
                <a:cs typeface="Calibri" pitchFamily="34" charset="-120"/>
              </a:rPr>
              <a:t>routes detected</a:t>
            </a:r>
            <a:endParaRPr lang="en-US" sz="1250" dirty="0"/>
          </a:p>
        </p:txBody>
      </p:sp>
      <p:sp>
        <p:nvSpPr>
          <p:cNvPr id="16" name="Shape 14"/>
          <p:cNvSpPr/>
          <p:nvPr/>
        </p:nvSpPr>
        <p:spPr>
          <a:xfrm>
            <a:off x="6035040" y="2587752"/>
            <a:ext cx="5577840" cy="1024128"/>
          </a:xfrm>
          <a:prstGeom prst="roundRect">
            <a:avLst>
              <a:gd name="adj" fmla="val 7143"/>
            </a:avLst>
          </a:prstGeom>
          <a:solidFill>
            <a:srgbClr val="FFFFFF"/>
          </a:solidFill>
          <a:ln w="12700">
            <a:solidFill>
              <a:srgbClr val="E1E6F0"/>
            </a:solidFill>
            <a:prstDash val="solid"/>
          </a:ln>
          <a:effectLst>
            <a:outerShdw sx="100000" sy="100000" kx="0" ky="0" algn="bl" rotWithShape="0" blurRad="101600" dist="38100" dir="5400000">
              <a:srgbClr val="1E2761">
                <a:alpha val="12000"/>
              </a:srgbClr>
            </a:outerShdw>
          </a:effectLst>
        </p:spPr>
      </p:sp>
      <p:sp>
        <p:nvSpPr>
          <p:cNvPr id="17" name="Text 15"/>
          <p:cNvSpPr txBox="1"/>
          <p:nvPr/>
        </p:nvSpPr>
        <p:spPr>
          <a:xfrm>
            <a:off x="6263640" y="2715768"/>
            <a:ext cx="1463040" cy="77724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12.8%</a:t>
            </a:r>
            <a:endParaRPr lang="en-US" sz="2600" dirty="0"/>
          </a:p>
        </p:txBody>
      </p:sp>
      <p:sp>
        <p:nvSpPr>
          <p:cNvPr id="18" name="Text 16"/>
          <p:cNvSpPr txBox="1"/>
          <p:nvPr/>
        </p:nvSpPr>
        <p:spPr>
          <a:xfrm>
            <a:off x="7772400" y="2715768"/>
            <a:ext cx="3657600" cy="777240"/>
          </a:xfrm>
          <a:prstGeom prst="rect">
            <a:avLst/>
          </a:prstGeom>
          <a:noFill/>
          <a:ln/>
        </p:spPr>
        <p:txBody>
          <a:bodyPr wrap="square" lIns="0" tIns="0" rIns="0" bIns="0" rtlCol="0" anchor="ctr"/>
          <a:lstStyle/>
          <a:p>
            <a:pPr indent="0" marL="0">
              <a:buNone/>
            </a:pPr>
            <a:r>
              <a:rPr lang="en-US" sz="1250" dirty="0">
                <a:solidFill>
                  <a:srgbClr val="5B6B8C"/>
                </a:solidFill>
                <a:latin typeface="Calibri" pitchFamily="34" charset="0"/>
                <a:ea typeface="Calibri" pitchFamily="34" charset="-122"/>
                <a:cs typeface="Calibri" pitchFamily="34" charset="-120"/>
              </a:rPr>
              <a:t>functions referenced in tests (honest fallback metric)</a:t>
            </a:r>
            <a:endParaRPr lang="en-US" sz="1250" dirty="0"/>
          </a:p>
        </p:txBody>
      </p:sp>
      <p:sp>
        <p:nvSpPr>
          <p:cNvPr id="19" name="Shape 17"/>
          <p:cNvSpPr/>
          <p:nvPr/>
        </p:nvSpPr>
        <p:spPr>
          <a:xfrm>
            <a:off x="6035040" y="3758184"/>
            <a:ext cx="5577840" cy="1024128"/>
          </a:xfrm>
          <a:prstGeom prst="roundRect">
            <a:avLst>
              <a:gd name="adj" fmla="val 7143"/>
            </a:avLst>
          </a:prstGeom>
          <a:solidFill>
            <a:srgbClr val="FFFFFF"/>
          </a:solidFill>
          <a:ln w="12700">
            <a:solidFill>
              <a:srgbClr val="E1E6F0"/>
            </a:solidFill>
            <a:prstDash val="solid"/>
          </a:ln>
          <a:effectLst>
            <a:outerShdw sx="100000" sy="100000" kx="0" ky="0" algn="bl" rotWithShape="0" blurRad="101600" dist="38100" dir="5400000">
              <a:srgbClr val="1E2761">
                <a:alpha val="12000"/>
              </a:srgbClr>
            </a:outerShdw>
          </a:effectLst>
        </p:spPr>
      </p:sp>
      <p:sp>
        <p:nvSpPr>
          <p:cNvPr id="20" name="Text 18"/>
          <p:cNvSpPr txBox="1"/>
          <p:nvPr/>
        </p:nvSpPr>
        <p:spPr>
          <a:xfrm>
            <a:off x="6263640" y="3886200"/>
            <a:ext cx="1463040" cy="77724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0</a:t>
            </a:r>
            <a:endParaRPr lang="en-US" sz="2600" dirty="0"/>
          </a:p>
        </p:txBody>
      </p:sp>
      <p:sp>
        <p:nvSpPr>
          <p:cNvPr id="21" name="Text 19"/>
          <p:cNvSpPr txBox="1"/>
          <p:nvPr/>
        </p:nvSpPr>
        <p:spPr>
          <a:xfrm>
            <a:off x="7772400" y="3886200"/>
            <a:ext cx="3657600" cy="777240"/>
          </a:xfrm>
          <a:prstGeom prst="rect">
            <a:avLst/>
          </a:prstGeom>
          <a:noFill/>
          <a:ln/>
        </p:spPr>
        <p:txBody>
          <a:bodyPr wrap="square" lIns="0" tIns="0" rIns="0" bIns="0" rtlCol="0" anchor="ctr"/>
          <a:lstStyle/>
          <a:p>
            <a:pPr indent="0" marL="0">
              <a:buNone/>
            </a:pPr>
            <a:r>
              <a:rPr lang="en-US" sz="1250" dirty="0">
                <a:solidFill>
                  <a:srgbClr val="5B6B8C"/>
                </a:solidFill>
                <a:latin typeface="Calibri" pitchFamily="34" charset="0"/>
                <a:ea typeface="Calibri" pitchFamily="34" charset="-122"/>
                <a:cs typeface="Calibri" pitchFamily="34" charset="-120"/>
              </a:rPr>
              <a:t>false-positive security findings</a:t>
            </a:r>
            <a:endParaRPr lang="en-US" sz="1250" dirty="0"/>
          </a:p>
        </p:txBody>
      </p:sp>
      <p:sp>
        <p:nvSpPr>
          <p:cNvPr id="22" name="Shape 20"/>
          <p:cNvSpPr/>
          <p:nvPr/>
        </p:nvSpPr>
        <p:spPr>
          <a:xfrm>
            <a:off x="6035040" y="4928616"/>
            <a:ext cx="5577840" cy="1024128"/>
          </a:xfrm>
          <a:prstGeom prst="roundRect">
            <a:avLst>
              <a:gd name="adj" fmla="val 7143"/>
            </a:avLst>
          </a:prstGeom>
          <a:solidFill>
            <a:srgbClr val="FFFFFF"/>
          </a:solidFill>
          <a:ln w="12700">
            <a:solidFill>
              <a:srgbClr val="E1E6F0"/>
            </a:solidFill>
            <a:prstDash val="solid"/>
          </a:ln>
          <a:effectLst>
            <a:outerShdw sx="100000" sy="100000" kx="0" ky="0" algn="bl" rotWithShape="0" blurRad="101600" dist="38100" dir="5400000">
              <a:srgbClr val="1E2761">
                <a:alpha val="12000"/>
              </a:srgbClr>
            </a:outerShdw>
          </a:effectLst>
        </p:spPr>
      </p:sp>
      <p:sp>
        <p:nvSpPr>
          <p:cNvPr id="23" name="Text 21"/>
          <p:cNvSpPr txBox="1"/>
          <p:nvPr/>
        </p:nvSpPr>
        <p:spPr>
          <a:xfrm>
            <a:off x="6263640" y="5056632"/>
            <a:ext cx="1463040" cy="77724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2</a:t>
            </a:r>
            <a:endParaRPr lang="en-US" sz="2600" dirty="0"/>
          </a:p>
        </p:txBody>
      </p:sp>
      <p:sp>
        <p:nvSpPr>
          <p:cNvPr id="24" name="Text 22"/>
          <p:cNvSpPr txBox="1"/>
          <p:nvPr/>
        </p:nvSpPr>
        <p:spPr>
          <a:xfrm>
            <a:off x="7772400" y="5056632"/>
            <a:ext cx="3657600" cy="777240"/>
          </a:xfrm>
          <a:prstGeom prst="rect">
            <a:avLst/>
          </a:prstGeom>
          <a:noFill/>
          <a:ln/>
        </p:spPr>
        <p:txBody>
          <a:bodyPr wrap="square" lIns="0" tIns="0" rIns="0" bIns="0" rtlCol="0" anchor="ctr"/>
          <a:lstStyle/>
          <a:p>
            <a:pPr indent="0" marL="0">
              <a:buNone/>
            </a:pPr>
            <a:r>
              <a:rPr lang="en-US" sz="1250" dirty="0">
                <a:solidFill>
                  <a:srgbClr val="5B6B8C"/>
                </a:solidFill>
                <a:latin typeface="Calibri" pitchFamily="34" charset="0"/>
                <a:ea typeface="Calibri" pitchFamily="34" charset="-122"/>
                <a:cs typeface="Calibri" pitchFamily="34" charset="-120"/>
              </a:rPr>
              <a:t>real modernization findings</a:t>
            </a:r>
            <a:endParaRPr lang="en-US" sz="1250" dirty="0"/>
          </a:p>
        </p:txBody>
      </p:sp>
      <p:sp>
        <p:nvSpPr>
          <p:cNvPr id="25" name="Text 23"/>
          <p:cNvSpPr txBox="1"/>
          <p:nvPr/>
        </p:nvSpPr>
        <p:spPr>
          <a:xfrm>
            <a:off x="6035040" y="6144768"/>
            <a:ext cx="5577840" cy="640080"/>
          </a:xfrm>
          <a:prstGeom prst="rect">
            <a:avLst/>
          </a:prstGeom>
          <a:noFill/>
          <a:ln/>
        </p:spPr>
        <p:txBody>
          <a:bodyPr wrap="square" lIns="0" tIns="0" rIns="0" bIns="0" rtlCol="0" anchor="ctr"/>
          <a:lstStyle/>
          <a:p>
            <a:pPr indent="0" marL="0">
              <a:buNone/>
            </a:pPr>
            <a:r>
              <a:rPr lang="en-US" sz="1150" i="1" dirty="0">
                <a:solidFill>
                  <a:srgbClr val="5B6B8C"/>
                </a:solidFill>
                <a:latin typeface="Calibri" pitchFamily="34" charset="0"/>
                <a:ea typeface="Calibri" pitchFamily="34" charset="-122"/>
                <a:cs typeface="Calibri" pitchFamily="34" charset="-120"/>
              </a:rPr>
              <a:t>The testing subagent noticed the test suite doesn't drive routes over HTTP and reported the honest fallback metric instead of a misleading "0% covered."</a:t>
            </a:r>
            <a:endParaRPr lang="en-US" sz="1150" dirty="0"/>
          </a:p>
        </p:txBody>
      </p:sp>
      <p:sp>
        <p:nvSpPr>
          <p:cNvPr id="26" name="Text 24"/>
          <p:cNvSpPr txBox="1"/>
          <p:nvPr/>
        </p:nvSpPr>
        <p:spPr>
          <a:xfrm>
            <a:off x="548640" y="6528816"/>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DevPilot — IBM Bob 2.0 Hackathon</a:t>
            </a:r>
            <a:endParaRPr lang="en-US" sz="1000" dirty="0"/>
          </a:p>
        </p:txBody>
      </p:sp>
      <p:sp>
        <p:nvSpPr>
          <p:cNvPr id="27" name="Text 25"/>
          <p:cNvSpPr txBox="1"/>
          <p:nvPr/>
        </p:nvSpPr>
        <p:spPr>
          <a:xfrm>
            <a:off x="11521440" y="6528816"/>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28016"/>
            <a:ext cx="7315200" cy="274320"/>
          </a:xfrm>
          <a:prstGeom prst="rect">
            <a:avLst/>
          </a:prstGeom>
          <a:noFill/>
          <a:ln/>
        </p:spPr>
        <p:txBody>
          <a:bodyPr wrap="square" lIns="0" tIns="0" rIns="0" bIns="0"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WHAT DEVPILOT FOUND -- TASKFLOW API</a:t>
            </a:r>
            <a:endParaRPr lang="en-US" sz="1200" dirty="0"/>
          </a:p>
        </p:txBody>
      </p:sp>
      <p:sp>
        <p:nvSpPr>
          <p:cNvPr id="3" name="Text 1"/>
          <p:cNvSpPr txBox="1"/>
          <p:nvPr/>
        </p:nvSpPr>
        <p:spPr>
          <a:xfrm>
            <a:off x="548640" y="384048"/>
            <a:ext cx="969264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Real findings, verified two independent ways</a:t>
            </a:r>
            <a:endParaRPr lang="en-US" sz="3000" dirty="0"/>
          </a:p>
        </p:txBody>
      </p:sp>
      <p:sp>
        <p:nvSpPr>
          <p:cNvPr id="4" name="Shape 2"/>
          <p:cNvSpPr/>
          <p:nvPr/>
        </p:nvSpPr>
        <p:spPr>
          <a:xfrm>
            <a:off x="10268712" y="301752"/>
            <a:ext cx="82296" cy="82296"/>
          </a:xfrm>
          <a:prstGeom prst="ellipse">
            <a:avLst/>
          </a:prstGeom>
          <a:solidFill>
            <a:srgbClr val="CADCFC"/>
          </a:solidFill>
          <a:ln/>
        </p:spPr>
      </p:sp>
      <p:sp>
        <p:nvSpPr>
          <p:cNvPr id="5" name="Shape 3"/>
          <p:cNvSpPr/>
          <p:nvPr/>
        </p:nvSpPr>
        <p:spPr>
          <a:xfrm>
            <a:off x="10460736" y="210312"/>
            <a:ext cx="82296" cy="82296"/>
          </a:xfrm>
          <a:prstGeom prst="ellipse">
            <a:avLst/>
          </a:prstGeom>
          <a:solidFill>
            <a:srgbClr val="CADCFC"/>
          </a:solidFill>
          <a:ln/>
        </p:spPr>
      </p:sp>
      <p:sp>
        <p:nvSpPr>
          <p:cNvPr id="6" name="Shape 4"/>
          <p:cNvSpPr/>
          <p:nvPr/>
        </p:nvSpPr>
        <p:spPr>
          <a:xfrm>
            <a:off x="10661904" y="210312"/>
            <a:ext cx="82296" cy="82296"/>
          </a:xfrm>
          <a:prstGeom prst="ellipse">
            <a:avLst/>
          </a:prstGeom>
          <a:solidFill>
            <a:srgbClr val="CADCFC"/>
          </a:solidFill>
          <a:ln/>
        </p:spPr>
      </p:sp>
      <p:sp>
        <p:nvSpPr>
          <p:cNvPr id="7" name="Shape 5"/>
          <p:cNvSpPr/>
          <p:nvPr/>
        </p:nvSpPr>
        <p:spPr>
          <a:xfrm>
            <a:off x="10853928" y="301752"/>
            <a:ext cx="82296" cy="82296"/>
          </a:xfrm>
          <a:prstGeom prst="ellipse">
            <a:avLst/>
          </a:prstGeom>
          <a:solidFill>
            <a:srgbClr val="CADCFC"/>
          </a:solidFill>
          <a:ln/>
        </p:spPr>
      </p:sp>
      <p:sp>
        <p:nvSpPr>
          <p:cNvPr id="8" name="Shape 6"/>
          <p:cNvSpPr/>
          <p:nvPr/>
        </p:nvSpPr>
        <p:spPr>
          <a:xfrm>
            <a:off x="10497312" y="539496"/>
            <a:ext cx="128016" cy="128016"/>
          </a:xfrm>
          <a:prstGeom prst="ellipse">
            <a:avLst/>
          </a:prstGeom>
          <a:solidFill>
            <a:srgbClr val="F2A93B"/>
          </a:solidFill>
          <a:ln/>
        </p:spPr>
      </p:sp>
      <p:sp>
        <p:nvSpPr>
          <p:cNvPr id="9" name="Shape 7"/>
          <p:cNvSpPr/>
          <p:nvPr/>
        </p:nvSpPr>
        <p:spPr>
          <a:xfrm>
            <a:off x="548640" y="1508760"/>
            <a:ext cx="2514600" cy="1828800"/>
          </a:xfrm>
          <a:prstGeom prst="roundRect">
            <a:avLst>
              <a:gd name="adj" fmla="val 4000"/>
            </a:avLst>
          </a:prstGeom>
          <a:solidFill>
            <a:srgbClr val="F4F6FB"/>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10" name="Text 8"/>
          <p:cNvSpPr txBox="1"/>
          <p:nvPr/>
        </p:nvSpPr>
        <p:spPr>
          <a:xfrm>
            <a:off x="685800" y="1737360"/>
            <a:ext cx="2240280" cy="73152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20.0%</a:t>
            </a:r>
            <a:endParaRPr lang="en-US" sz="3400" dirty="0"/>
          </a:p>
        </p:txBody>
      </p:sp>
      <p:sp>
        <p:nvSpPr>
          <p:cNvPr id="11" name="Text 9"/>
          <p:cNvSpPr txBox="1"/>
          <p:nvPr/>
        </p:nvSpPr>
        <p:spPr>
          <a:xfrm>
            <a:off x="685800" y="2468880"/>
            <a:ext cx="2240280" cy="822960"/>
          </a:xfrm>
          <a:prstGeom prst="rect">
            <a:avLst/>
          </a:prstGeom>
          <a:noFill/>
          <a:ln/>
        </p:spPr>
        <p:txBody>
          <a:bodyPr wrap="square" lIns="0" tIns="0" rIns="0" bIns="0" rtlCol="0" anchor="t"/>
          <a:lstStyle/>
          <a:p>
            <a:pPr indent="0" marL="0">
              <a:buNone/>
            </a:pPr>
            <a:r>
              <a:rPr lang="en-US" sz="1150" dirty="0">
                <a:solidFill>
                  <a:srgbClr val="5B6B8C"/>
                </a:solidFill>
                <a:latin typeface="Calibri" pitchFamily="34" charset="0"/>
                <a:ea typeface="Calibri" pitchFamily="34" charset="-122"/>
                <a:cs typeface="Calibri" pitchFamily="34" charset="-120"/>
              </a:rPr>
              <a:t>endpoint test coverage — 8 pytest stubs auto-generated</a:t>
            </a:r>
            <a:endParaRPr lang="en-US" sz="1150" dirty="0"/>
          </a:p>
        </p:txBody>
      </p:sp>
      <p:sp>
        <p:nvSpPr>
          <p:cNvPr id="12" name="Shape 10"/>
          <p:cNvSpPr/>
          <p:nvPr/>
        </p:nvSpPr>
        <p:spPr>
          <a:xfrm>
            <a:off x="3291840" y="1508760"/>
            <a:ext cx="2514600" cy="1828800"/>
          </a:xfrm>
          <a:prstGeom prst="roundRect">
            <a:avLst>
              <a:gd name="adj" fmla="val 4000"/>
            </a:avLst>
          </a:prstGeom>
          <a:solidFill>
            <a:srgbClr val="F4F6FB"/>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13" name="Text 11"/>
          <p:cNvSpPr txBox="1"/>
          <p:nvPr/>
        </p:nvSpPr>
        <p:spPr>
          <a:xfrm>
            <a:off x="3429000" y="1737360"/>
            <a:ext cx="2240280" cy="73152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1 HIGH / 2 MED</a:t>
            </a:r>
            <a:endParaRPr lang="en-US" sz="2600" dirty="0"/>
          </a:p>
        </p:txBody>
      </p:sp>
      <p:sp>
        <p:nvSpPr>
          <p:cNvPr id="14" name="Text 12"/>
          <p:cNvSpPr txBox="1"/>
          <p:nvPr/>
        </p:nvSpPr>
        <p:spPr>
          <a:xfrm>
            <a:off x="3429000" y="2468880"/>
            <a:ext cx="2240280" cy="822960"/>
          </a:xfrm>
          <a:prstGeom prst="rect">
            <a:avLst/>
          </a:prstGeom>
          <a:noFill/>
          <a:ln/>
        </p:spPr>
        <p:txBody>
          <a:bodyPr wrap="square" lIns="0" tIns="0" rIns="0" bIns="0" rtlCol="0" anchor="t"/>
          <a:lstStyle/>
          <a:p>
            <a:pPr indent="0" marL="0">
              <a:buNone/>
            </a:pPr>
            <a:r>
              <a:rPr lang="en-US" sz="1150" dirty="0">
                <a:solidFill>
                  <a:srgbClr val="5B6B8C"/>
                </a:solidFill>
                <a:latin typeface="Calibri" pitchFamily="34" charset="0"/>
                <a:ea typeface="Calibri" pitchFamily="34" charset="-122"/>
                <a:cs typeface="Calibri" pitchFamily="34" charset="-120"/>
              </a:rPr>
              <a:t>code-review findings, severity-ranked</a:t>
            </a:r>
            <a:endParaRPr lang="en-US" sz="1150" dirty="0"/>
          </a:p>
        </p:txBody>
      </p:sp>
      <p:sp>
        <p:nvSpPr>
          <p:cNvPr id="15" name="Shape 13"/>
          <p:cNvSpPr/>
          <p:nvPr/>
        </p:nvSpPr>
        <p:spPr>
          <a:xfrm>
            <a:off x="6035040" y="1508760"/>
            <a:ext cx="2514600" cy="1828800"/>
          </a:xfrm>
          <a:prstGeom prst="roundRect">
            <a:avLst>
              <a:gd name="adj" fmla="val 4000"/>
            </a:avLst>
          </a:prstGeom>
          <a:solidFill>
            <a:srgbClr val="1E2761"/>
          </a:solidFill>
          <a:ln w="12700">
            <a:solidFill>
              <a:srgbClr val="1E2761"/>
            </a:solidFill>
            <a:prstDash val="solid"/>
          </a:ln>
          <a:effectLst>
            <a:outerShdw sx="100000" sy="100000" kx="0" ky="0" algn="bl" rotWithShape="0" blurRad="101600" dist="38100" dir="5400000">
              <a:srgbClr val="1E2761">
                <a:alpha val="12000"/>
              </a:srgbClr>
            </a:outerShdw>
          </a:effectLst>
        </p:spPr>
      </p:sp>
      <p:sp>
        <p:nvSpPr>
          <p:cNvPr id="16" name="Text 14"/>
          <p:cNvSpPr txBox="1"/>
          <p:nvPr/>
        </p:nvSpPr>
        <p:spPr>
          <a:xfrm>
            <a:off x="6172200" y="1737360"/>
            <a:ext cx="224028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NO-GO</a:t>
            </a:r>
            <a:endParaRPr lang="en-US" sz="3400" dirty="0"/>
          </a:p>
        </p:txBody>
      </p:sp>
      <p:sp>
        <p:nvSpPr>
          <p:cNvPr id="17" name="Text 15"/>
          <p:cNvSpPr txBox="1"/>
          <p:nvPr/>
        </p:nvSpPr>
        <p:spPr>
          <a:xfrm>
            <a:off x="6172200" y="2468880"/>
            <a:ext cx="2240280" cy="822960"/>
          </a:xfrm>
          <a:prstGeom prst="rect">
            <a:avLst/>
          </a:prstGeom>
          <a:noFill/>
          <a:ln/>
        </p:spPr>
        <p:txBody>
          <a:bodyPr wrap="square" lIns="0" tIns="0" rIns="0" bIns="0" rtlCol="0" anchor="t"/>
          <a:lstStyle/>
          <a:p>
            <a:pPr indent="0" marL="0">
              <a:buNone/>
            </a:pPr>
            <a:r>
              <a:rPr lang="en-US" sz="1150" dirty="0">
                <a:solidFill>
                  <a:srgbClr val="CADCFC"/>
                </a:solidFill>
                <a:latin typeface="Calibri" pitchFamily="34" charset="0"/>
                <a:ea typeface="Calibri" pitchFamily="34" charset="-122"/>
                <a:cs typeface="Calibri" pitchFamily="34" charset="-120"/>
              </a:rPr>
              <a:t>release recommendation, with cited reasons</a:t>
            </a:r>
            <a:endParaRPr lang="en-US" sz="1150" dirty="0"/>
          </a:p>
        </p:txBody>
      </p:sp>
      <p:sp>
        <p:nvSpPr>
          <p:cNvPr id="18" name="Shape 16"/>
          <p:cNvSpPr/>
          <p:nvPr/>
        </p:nvSpPr>
        <p:spPr>
          <a:xfrm>
            <a:off x="8778240" y="1508760"/>
            <a:ext cx="2514600" cy="1828800"/>
          </a:xfrm>
          <a:prstGeom prst="roundRect">
            <a:avLst>
              <a:gd name="adj" fmla="val 4000"/>
            </a:avLst>
          </a:prstGeom>
          <a:solidFill>
            <a:srgbClr val="F4F6FB"/>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19" name="Text 17"/>
          <p:cNvSpPr txBox="1"/>
          <p:nvPr/>
        </p:nvSpPr>
        <p:spPr>
          <a:xfrm>
            <a:off x="8915400" y="1737360"/>
            <a:ext cx="2240280" cy="73152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2 of 3</a:t>
            </a:r>
            <a:endParaRPr lang="en-US" sz="2600" dirty="0"/>
          </a:p>
        </p:txBody>
      </p:sp>
      <p:sp>
        <p:nvSpPr>
          <p:cNvPr id="20" name="Text 18"/>
          <p:cNvSpPr txBox="1"/>
          <p:nvPr/>
        </p:nvSpPr>
        <p:spPr>
          <a:xfrm>
            <a:off x="8915400" y="2468880"/>
            <a:ext cx="2240280" cy="822960"/>
          </a:xfrm>
          <a:prstGeom prst="rect">
            <a:avLst/>
          </a:prstGeom>
          <a:noFill/>
          <a:ln/>
        </p:spPr>
        <p:txBody>
          <a:bodyPr wrap="square" lIns="0" tIns="0" rIns="0" bIns="0" rtlCol="0" anchor="t"/>
          <a:lstStyle/>
          <a:p>
            <a:pPr indent="0" marL="0">
              <a:buNone/>
            </a:pPr>
            <a:r>
              <a:rPr lang="en-US" sz="1150" dirty="0">
                <a:solidFill>
                  <a:srgbClr val="5B6B8C"/>
                </a:solidFill>
                <a:latin typeface="Calibri" pitchFamily="34" charset="0"/>
                <a:ea typeface="Calibri" pitchFamily="34" charset="-122"/>
                <a:cs typeface="Calibri" pitchFamily="34" charset="-120"/>
              </a:rPr>
              <a:t>flagged findings promoted to CONFIRMED by execution</a:t>
            </a:r>
            <a:endParaRPr lang="en-US" sz="1150" dirty="0"/>
          </a:p>
        </p:txBody>
      </p:sp>
      <p:sp>
        <p:nvSpPr>
          <p:cNvPr id="21" name="Shape 19"/>
          <p:cNvSpPr/>
          <p:nvPr/>
        </p:nvSpPr>
        <p:spPr>
          <a:xfrm>
            <a:off x="548640" y="3703320"/>
            <a:ext cx="10744200" cy="1920240"/>
          </a:xfrm>
          <a:prstGeom prst="roundRect">
            <a:avLst>
              <a:gd name="adj" fmla="val 3810"/>
            </a:avLst>
          </a:prstGeom>
          <a:solidFill>
            <a:srgbClr val="FDF3E3"/>
          </a:solidFill>
          <a:ln w="12700">
            <a:solidFill>
              <a:srgbClr val="F2A93B"/>
            </a:solidFill>
            <a:prstDash val="solid"/>
          </a:ln>
          <a:effectLst>
            <a:outerShdw sx="100000" sy="100000" kx="0" ky="0" algn="bl" rotWithShape="0" blurRad="101600" dist="38100" dir="5400000">
              <a:srgbClr val="1E2761">
                <a:alpha val="12000"/>
              </a:srgbClr>
            </a:outerShdw>
          </a:effectLst>
        </p:spPr>
      </p:sp>
      <p:sp>
        <p:nvSpPr>
          <p:cNvPr id="22" name="Text 20"/>
          <p:cNvSpPr txBox="1"/>
          <p:nvPr/>
        </p:nvSpPr>
        <p:spPr>
          <a:xfrm>
            <a:off x="868680" y="3931920"/>
            <a:ext cx="9601200" cy="3200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The proof point</a:t>
            </a:r>
            <a:endParaRPr lang="en-US" sz="1500" dirty="0"/>
          </a:p>
        </p:txBody>
      </p:sp>
      <p:sp>
        <p:nvSpPr>
          <p:cNvPr id="23" name="Text 21"/>
          <p:cNvSpPr txBox="1"/>
          <p:nvPr/>
        </p:nvSpPr>
        <p:spPr>
          <a:xfrm>
            <a:off x="868680" y="4343400"/>
            <a:ext cx="9784080" cy="1188720"/>
          </a:xfrm>
          <a:prstGeom prst="rect">
            <a:avLst/>
          </a:prstGeom>
          <a:noFill/>
          <a:ln/>
        </p:spPr>
        <p:txBody>
          <a:bodyPr wrap="square" lIns="0" tIns="0" rIns="0" bIns="0" rtlCol="0" anchor="t"/>
          <a:lstStyle/>
          <a:p>
            <a:pPr indent="0" marL="0">
              <a:lnSpc>
                <a:spcPct val="120000"/>
              </a:lnSpc>
              <a:buNone/>
            </a:pPr>
            <a:r>
              <a:rPr lang="en-US" sz="1250" dirty="0">
                <a:solidFill>
                  <a:srgbClr val="1A1A2E"/>
                </a:solidFill>
                <a:latin typeface="Calibri" pitchFamily="34" charset="0"/>
                <a:ea typeface="Calibri" pitchFamily="34" charset="-122"/>
                <a:cs typeface="Calibri" pitchFamily="34" charset="-120"/>
              </a:rPr>
              <a:t>The code-review subagent statically flagged two endpoints for returning a database row without checking whether it was None. The testing subagent's auto-generated stub tests were then actually run against the live app — and two of them failed with the exact TypeError the review subagent predicted, before any human opened the file. DevPilot promotes exactly these findings from "flagged" to "CONFIRMED" in the report -- and left the third (the SQL-injection finding, with no matching test) correctly labeled "flagged," not confirmed, since only one method caught it.</a:t>
            </a:r>
            <a:endParaRPr lang="en-US" sz="1250" dirty="0"/>
          </a:p>
        </p:txBody>
      </p:sp>
      <p:sp>
        <p:nvSpPr>
          <p:cNvPr id="24" name="Text 22"/>
          <p:cNvSpPr txBox="1"/>
          <p:nvPr/>
        </p:nvSpPr>
        <p:spPr>
          <a:xfrm>
            <a:off x="548640" y="6528816"/>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DevPilot — IBM Bob 2.0 Hackathon</a:t>
            </a:r>
            <a:endParaRPr lang="en-US" sz="1000" dirty="0"/>
          </a:p>
        </p:txBody>
      </p:sp>
      <p:sp>
        <p:nvSpPr>
          <p:cNvPr id="25" name="Text 23"/>
          <p:cNvSpPr txBox="1"/>
          <p:nvPr/>
        </p:nvSpPr>
        <p:spPr>
          <a:xfrm>
            <a:off x="11521440" y="6528816"/>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28016"/>
            <a:ext cx="7315200" cy="274320"/>
          </a:xfrm>
          <a:prstGeom prst="rect">
            <a:avLst/>
          </a:prstGeom>
          <a:noFill/>
          <a:ln/>
        </p:spPr>
        <p:txBody>
          <a:bodyPr wrap="square" lIns="0" tIns="0" rIns="0" bIns="0"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FROM FINDING TO FIX</a:t>
            </a:r>
            <a:endParaRPr lang="en-US" sz="1200" dirty="0"/>
          </a:p>
        </p:txBody>
      </p:sp>
      <p:sp>
        <p:nvSpPr>
          <p:cNvPr id="3" name="Text 1"/>
          <p:cNvSpPr txBox="1"/>
          <p:nvPr/>
        </p:nvSpPr>
        <p:spPr>
          <a:xfrm>
            <a:off x="548640" y="384048"/>
            <a:ext cx="969264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Auto-fix commits locally. A human confirms before it ever leaves the machine.</a:t>
            </a:r>
            <a:endParaRPr lang="en-US" sz="3000" dirty="0"/>
          </a:p>
        </p:txBody>
      </p:sp>
      <p:sp>
        <p:nvSpPr>
          <p:cNvPr id="4" name="Shape 2"/>
          <p:cNvSpPr/>
          <p:nvPr/>
        </p:nvSpPr>
        <p:spPr>
          <a:xfrm>
            <a:off x="10268712" y="301752"/>
            <a:ext cx="82296" cy="82296"/>
          </a:xfrm>
          <a:prstGeom prst="ellipse">
            <a:avLst/>
          </a:prstGeom>
          <a:solidFill>
            <a:srgbClr val="CADCFC"/>
          </a:solidFill>
          <a:ln/>
        </p:spPr>
      </p:sp>
      <p:sp>
        <p:nvSpPr>
          <p:cNvPr id="5" name="Shape 3"/>
          <p:cNvSpPr/>
          <p:nvPr/>
        </p:nvSpPr>
        <p:spPr>
          <a:xfrm>
            <a:off x="10460736" y="210312"/>
            <a:ext cx="82296" cy="82296"/>
          </a:xfrm>
          <a:prstGeom prst="ellipse">
            <a:avLst/>
          </a:prstGeom>
          <a:solidFill>
            <a:srgbClr val="CADCFC"/>
          </a:solidFill>
          <a:ln/>
        </p:spPr>
      </p:sp>
      <p:sp>
        <p:nvSpPr>
          <p:cNvPr id="6" name="Shape 4"/>
          <p:cNvSpPr/>
          <p:nvPr/>
        </p:nvSpPr>
        <p:spPr>
          <a:xfrm>
            <a:off x="10661904" y="210312"/>
            <a:ext cx="82296" cy="82296"/>
          </a:xfrm>
          <a:prstGeom prst="ellipse">
            <a:avLst/>
          </a:prstGeom>
          <a:solidFill>
            <a:srgbClr val="CADCFC"/>
          </a:solidFill>
          <a:ln/>
        </p:spPr>
      </p:sp>
      <p:sp>
        <p:nvSpPr>
          <p:cNvPr id="7" name="Shape 5"/>
          <p:cNvSpPr/>
          <p:nvPr/>
        </p:nvSpPr>
        <p:spPr>
          <a:xfrm>
            <a:off x="10853928" y="301752"/>
            <a:ext cx="82296" cy="82296"/>
          </a:xfrm>
          <a:prstGeom prst="ellipse">
            <a:avLst/>
          </a:prstGeom>
          <a:solidFill>
            <a:srgbClr val="CADCFC"/>
          </a:solidFill>
          <a:ln/>
        </p:spPr>
      </p:sp>
      <p:sp>
        <p:nvSpPr>
          <p:cNvPr id="8" name="Shape 6"/>
          <p:cNvSpPr/>
          <p:nvPr/>
        </p:nvSpPr>
        <p:spPr>
          <a:xfrm>
            <a:off x="10497312" y="539496"/>
            <a:ext cx="128016" cy="128016"/>
          </a:xfrm>
          <a:prstGeom prst="ellipse">
            <a:avLst/>
          </a:prstGeom>
          <a:solidFill>
            <a:srgbClr val="F2A93B"/>
          </a:solidFill>
          <a:ln/>
        </p:spPr>
      </p:sp>
      <p:sp>
        <p:nvSpPr>
          <p:cNvPr id="9" name="Shape 7"/>
          <p:cNvSpPr/>
          <p:nvPr/>
        </p:nvSpPr>
        <p:spPr>
          <a:xfrm>
            <a:off x="548640" y="1417320"/>
            <a:ext cx="5212080" cy="4617720"/>
          </a:xfrm>
          <a:prstGeom prst="roundRect">
            <a:avLst>
              <a:gd name="adj" fmla="val 1584"/>
            </a:avLst>
          </a:prstGeom>
          <a:solidFill>
            <a:srgbClr val="F4F6FB"/>
          </a:solidFill>
          <a:ln w="12700">
            <a:solidFill>
              <a:srgbClr val="E1E6F0"/>
            </a:solidFill>
            <a:prstDash val="solid"/>
          </a:ln>
          <a:effectLst>
            <a:outerShdw sx="100000" sy="100000" kx="0" ky="0" algn="bl" rotWithShape="0" blurRad="101600" dist="38100" dir="5400000">
              <a:srgbClr val="1E2761">
                <a:alpha val="12000"/>
              </a:srgbClr>
            </a:outerShdw>
          </a:effectLst>
        </p:spPr>
      </p:sp>
      <p:sp>
        <p:nvSpPr>
          <p:cNvPr id="10" name="Text 8"/>
          <p:cNvSpPr txBox="1"/>
          <p:nvPr/>
        </p:nvSpPr>
        <p:spPr>
          <a:xfrm>
            <a:off x="822960" y="1645920"/>
            <a:ext cx="466344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Auto-fix subagent -- what it actually did</a:t>
            </a:r>
            <a:endParaRPr lang="en-US" sz="1500" dirty="0"/>
          </a:p>
        </p:txBody>
      </p:sp>
      <p:sp>
        <p:nvSpPr>
          <p:cNvPr id="11" name="Text 9"/>
          <p:cNvSpPr txBox="1"/>
          <p:nvPr/>
        </p:nvSpPr>
        <p:spPr>
          <a:xfrm>
            <a:off x="822960" y="2103120"/>
            <a:ext cx="4663440" cy="274320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1A1A2E"/>
                </a:solidFill>
                <a:latin typeface="Calibri" pitchFamily="34" charset="0"/>
                <a:ea typeface="Calibri" pitchFamily="34" charset="-122"/>
                <a:cs typeface="Calibri" pitchFamily="34" charset="-120"/>
              </a:rPr>
              <a:t>Parameterized the SQL query (f-string -&gt; bound param)</a:t>
            </a:r>
            <a:endParaRPr lang="en-US" sz="1250" dirty="0"/>
          </a:p>
          <a:p>
            <a:pPr marL="342900" indent="-342900">
              <a:spcAft>
                <a:spcPts val="900"/>
              </a:spcAft>
              <a:buSzPct val="100000"/>
              <a:buChar char="•"/>
            </a:pPr>
            <a:r>
              <a:rPr lang="en-US" sz="1250" dirty="0">
                <a:solidFill>
                  <a:srgbClr val="1A1A2E"/>
                </a:solidFill>
                <a:latin typeface="Calibri" pitchFamily="34" charset="0"/>
                <a:ea typeface="Calibri" pitchFamily="34" charset="-122"/>
                <a:cs typeface="Calibri" pitchFamily="34" charset="-120"/>
              </a:rPr>
              <a:t>Added the missing null-check + 404 to both endpoints</a:t>
            </a:r>
            <a:endParaRPr lang="en-US" sz="1250" dirty="0"/>
          </a:p>
          <a:p>
            <a:pPr marL="342900" indent="-342900">
              <a:spcAft>
                <a:spcPts val="900"/>
              </a:spcAft>
              <a:buSzPct val="100000"/>
              <a:buChar char="•"/>
            </a:pPr>
            <a:r>
              <a:rPr lang="en-US" sz="1250" dirty="0">
                <a:solidFill>
                  <a:srgbClr val="1A1A2E"/>
                </a:solidFill>
                <a:latin typeface="Calibri" pitchFamily="34" charset="0"/>
                <a:ea typeface="Calibri" pitchFamily="34" charset="-122"/>
                <a:cs typeface="Calibri" pitchFamily="34" charset="-120"/>
              </a:rPr>
              <a:t>Bumped PyYAML to a version without the load advisory</a:t>
            </a:r>
            <a:endParaRPr lang="en-US" sz="1250" dirty="0"/>
          </a:p>
          <a:p>
            <a:pPr marL="342900" indent="-342900">
              <a:spcAft>
                <a:spcPts val="900"/>
              </a:spcAft>
              <a:buSzPct val="100000"/>
              <a:buChar char="•"/>
            </a:pPr>
            <a:r>
              <a:rPr lang="en-US" sz="1250" dirty="0">
                <a:solidFill>
                  <a:srgbClr val="1A1A2E"/>
                </a:solidFill>
                <a:latin typeface="Calibri" pitchFamily="34" charset="0"/>
                <a:ea typeface="Calibri" pitchFamily="34" charset="-122"/>
                <a:cs typeface="Calibri" pitchFamily="34" charset="-120"/>
              </a:rPr>
              <a:t>Re-ran the real test suite: 10/10 passed</a:t>
            </a:r>
            <a:endParaRPr lang="en-US" sz="1250" dirty="0"/>
          </a:p>
          <a:p>
            <a:pPr marL="342900" indent="-342900">
              <a:spcAft>
                <a:spcPts val="900"/>
              </a:spcAft>
              <a:buSzPct val="100000"/>
              <a:buChar char="•"/>
            </a:pPr>
            <a:r>
              <a:rPr lang="en-US" sz="1250" dirty="0">
                <a:solidFill>
                  <a:srgbClr val="1A1A2E"/>
                </a:solidFill>
                <a:latin typeface="Calibri" pitchFamily="34" charset="0"/>
                <a:ea typeface="Calibri" pitchFamily="34" charset="-122"/>
                <a:cs typeface="Calibri" pitchFamily="34" charset="-120"/>
              </a:rPr>
              <a:t>Committed to a local branch -- never pushed automatically</a:t>
            </a:r>
            <a:endParaRPr lang="en-US" sz="1250" dirty="0"/>
          </a:p>
        </p:txBody>
      </p:sp>
      <p:sp>
        <p:nvSpPr>
          <p:cNvPr id="12" name="Shape 10"/>
          <p:cNvSpPr/>
          <p:nvPr/>
        </p:nvSpPr>
        <p:spPr>
          <a:xfrm>
            <a:off x="822960" y="5074920"/>
            <a:ext cx="4663440" cy="822960"/>
          </a:xfrm>
          <a:prstGeom prst="roundRect">
            <a:avLst>
              <a:gd name="adj" fmla="val 8889"/>
            </a:avLst>
          </a:prstGeom>
          <a:solidFill>
            <a:srgbClr val="1E2761"/>
          </a:solidFill>
          <a:ln w="12700">
            <a:solidFill>
              <a:srgbClr val="1E2761"/>
            </a:solidFill>
            <a:prstDash val="solid"/>
          </a:ln>
          <a:effectLst>
            <a:outerShdw sx="100000" sy="100000" kx="0" ky="0" algn="bl" rotWithShape="0" blurRad="101600" dist="38100" dir="5400000">
              <a:srgbClr val="1E2761">
                <a:alpha val="12000"/>
              </a:srgbClr>
            </a:outerShdw>
          </a:effectLst>
        </p:spPr>
      </p:sp>
      <p:sp>
        <p:nvSpPr>
          <p:cNvPr id="13" name="Text 11"/>
          <p:cNvSpPr txBox="1"/>
          <p:nvPr/>
        </p:nvSpPr>
        <p:spPr>
          <a:xfrm>
            <a:off x="1005840" y="5074920"/>
            <a:ext cx="4297680" cy="82296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Pushing + opening a PR is a separate script: requires --confirm and the user's own GitHub token, every time. Never automatic.</a:t>
            </a:r>
            <a:endParaRPr lang="en-US" sz="1150" dirty="0"/>
          </a:p>
        </p:txBody>
      </p:sp>
      <p:sp>
        <p:nvSpPr>
          <p:cNvPr id="14" name="Shape 12"/>
          <p:cNvSpPr/>
          <p:nvPr/>
        </p:nvSpPr>
        <p:spPr>
          <a:xfrm>
            <a:off x="6035040" y="1417320"/>
            <a:ext cx="5577840" cy="4617720"/>
          </a:xfrm>
          <a:prstGeom prst="roundRect">
            <a:avLst>
              <a:gd name="adj" fmla="val 1584"/>
            </a:avLst>
          </a:prstGeom>
          <a:solidFill>
            <a:srgbClr val="F4F6FB"/>
          </a:solidFill>
          <a:ln w="12700">
            <a:solidFill>
              <a:srgbClr val="E1E6F0"/>
            </a:solidFill>
            <a:prstDash val="solid"/>
          </a:ln>
          <a:effectLst>
            <a:outerShdw sx="100000" sy="100000" kx="0" ky="0" algn="bl" rotWithShape="0" blurRad="101600" dist="38100" dir="5400000">
              <a:srgbClr val="1E2761">
                <a:alpha val="12000"/>
              </a:srgbClr>
            </a:outerShdw>
          </a:effectLst>
        </p:spPr>
      </p:sp>
      <p:sp>
        <p:nvSpPr>
          <p:cNvPr id="15" name="Text 13"/>
          <p:cNvSpPr txBox="1"/>
          <p:nvPr/>
        </p:nvSpPr>
        <p:spPr>
          <a:xfrm>
            <a:off x="6309360" y="1645920"/>
            <a:ext cx="502920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Ask DevPilot -- grounded in the report, not invented</a:t>
            </a:r>
            <a:endParaRPr lang="en-US" sz="1500" dirty="0"/>
          </a:p>
        </p:txBody>
      </p:sp>
      <p:sp>
        <p:nvSpPr>
          <p:cNvPr id="16" name="Text 14"/>
          <p:cNvSpPr txBox="1"/>
          <p:nvPr/>
        </p:nvSpPr>
        <p:spPr>
          <a:xfrm>
            <a:off x="6309360" y="2148840"/>
            <a:ext cx="5029200" cy="32004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Q: What should I fix first?</a:t>
            </a:r>
            <a:endParaRPr lang="en-US" sz="1200" dirty="0"/>
          </a:p>
        </p:txBody>
      </p:sp>
      <p:sp>
        <p:nvSpPr>
          <p:cNvPr id="17" name="Text 15"/>
          <p:cNvSpPr txBox="1"/>
          <p:nvPr/>
        </p:nvSpPr>
        <p:spPr>
          <a:xfrm>
            <a:off x="6309360" y="2468880"/>
            <a:ext cx="5029200" cy="50292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A: Start with tasks.py:get_task -- confirmed by two independent subagents.</a:t>
            </a:r>
            <a:endParaRPr lang="en-US" sz="1150" dirty="0"/>
          </a:p>
        </p:txBody>
      </p:sp>
      <p:sp>
        <p:nvSpPr>
          <p:cNvPr id="18" name="Text 16"/>
          <p:cNvSpPr txBox="1"/>
          <p:nvPr/>
        </p:nvSpPr>
        <p:spPr>
          <a:xfrm>
            <a:off x="6309360" y="3108960"/>
            <a:ext cx="5029200" cy="32004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Q: Is it safe to release?</a:t>
            </a:r>
            <a:endParaRPr lang="en-US" sz="1200" dirty="0"/>
          </a:p>
        </p:txBody>
      </p:sp>
      <p:sp>
        <p:nvSpPr>
          <p:cNvPr id="19" name="Text 17"/>
          <p:cNvSpPr txBox="1"/>
          <p:nvPr/>
        </p:nvSpPr>
        <p:spPr>
          <a:xfrm>
            <a:off x="6309360" y="3429000"/>
            <a:ext cx="5029200" cy="50292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A: NO-GO. PyYAML's unsafe-load advisory is unresolved.</a:t>
            </a:r>
            <a:endParaRPr lang="en-US" sz="1150" dirty="0"/>
          </a:p>
        </p:txBody>
      </p:sp>
      <p:sp>
        <p:nvSpPr>
          <p:cNvPr id="20" name="Text 18"/>
          <p:cNvSpPr txBox="1"/>
          <p:nvPr/>
        </p:nvSpPr>
        <p:spPr>
          <a:xfrm>
            <a:off x="6309360" y="4069080"/>
            <a:ext cx="5029200" cy="32004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Q: Where should a new engineer start?</a:t>
            </a:r>
            <a:endParaRPr lang="en-US" sz="1200" dirty="0"/>
          </a:p>
        </p:txBody>
      </p:sp>
      <p:sp>
        <p:nvSpPr>
          <p:cNvPr id="21" name="Text 19"/>
          <p:cNvSpPr txBox="1"/>
          <p:nvPr/>
        </p:nvSpPr>
        <p:spPr>
          <a:xfrm>
            <a:off x="6309360" y="4389120"/>
            <a:ext cx="5029200" cy="50292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A: Add a docstring to app/database.py -- top starter task.</a:t>
            </a:r>
            <a:endParaRPr lang="en-US" sz="1150" dirty="0"/>
          </a:p>
        </p:txBody>
      </p:sp>
      <p:sp>
        <p:nvSpPr>
          <p:cNvPr id="22" name="Text 20"/>
          <p:cNvSpPr txBox="1"/>
          <p:nvPr/>
        </p:nvSpPr>
        <p:spPr>
          <a:xfrm>
            <a:off x="6309360" y="5074920"/>
            <a:ext cx="5029200" cy="914400"/>
          </a:xfrm>
          <a:prstGeom prst="rect">
            <a:avLst/>
          </a:prstGeom>
          <a:noFill/>
          <a:ln/>
        </p:spPr>
        <p:txBody>
          <a:bodyPr wrap="square" lIns="0" tIns="0" rIns="0" bIns="0" rtlCol="0" anchor="ctr"/>
          <a:lstStyle/>
          <a:p>
            <a:pPr indent="0" marL="0">
              <a:buNone/>
            </a:pPr>
            <a:r>
              <a:rPr lang="en-US" sz="1100" i="1" dirty="0">
                <a:solidFill>
                  <a:srgbClr val="5B6B8C"/>
                </a:solidFill>
                <a:latin typeface="Calibri" pitchFamily="34" charset="0"/>
                <a:ea typeface="Calibri" pitchFamily="34" charset="-122"/>
                <a:cs typeface="Calibri" pitchFamily="34" charset="-120"/>
              </a:rPr>
              <a:t>Falls back to this deterministic, templated logic when watsonx.ai isn't configured; calls a real watsonx.ai REST client (built and tested against the fallback path) once credits land.</a:t>
            </a:r>
            <a:endParaRPr lang="en-US" sz="1100" dirty="0"/>
          </a:p>
        </p:txBody>
      </p:sp>
      <p:sp>
        <p:nvSpPr>
          <p:cNvPr id="23" name="Text 21"/>
          <p:cNvSpPr txBox="1"/>
          <p:nvPr/>
        </p:nvSpPr>
        <p:spPr>
          <a:xfrm>
            <a:off x="548640" y="6528816"/>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DevPilot — IBM Bob 2.0 Hackathon</a:t>
            </a:r>
            <a:endParaRPr lang="en-US" sz="1000" dirty="0"/>
          </a:p>
        </p:txBody>
      </p:sp>
      <p:sp>
        <p:nvSpPr>
          <p:cNvPr id="24" name="Text 22"/>
          <p:cNvSpPr txBox="1"/>
          <p:nvPr/>
        </p:nvSpPr>
        <p:spPr>
          <a:xfrm>
            <a:off x="11521440" y="6528816"/>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28016"/>
            <a:ext cx="7315200" cy="274320"/>
          </a:xfrm>
          <a:prstGeom prst="rect">
            <a:avLst/>
          </a:prstGeom>
          <a:noFill/>
          <a:ln/>
        </p:spPr>
        <p:txBody>
          <a:bodyPr wrap="square" lIns="0" tIns="0" rIns="0" bIns="0"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NEW THIS VERSION -- FROM THE MERGED HACKATHON-1.0 CONCEPTS</a:t>
            </a:r>
            <a:endParaRPr lang="en-US" sz="1200" dirty="0"/>
          </a:p>
        </p:txBody>
      </p:sp>
      <p:sp>
        <p:nvSpPr>
          <p:cNvPr id="3" name="Text 1"/>
          <p:cNvSpPr txBox="1"/>
          <p:nvPr/>
        </p:nvSpPr>
        <p:spPr>
          <a:xfrm>
            <a:off x="548640" y="384048"/>
            <a:ext cx="969264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If it breaks, who else feels it -- and how?</a:t>
            </a:r>
            <a:endParaRPr lang="en-US" sz="3000" dirty="0"/>
          </a:p>
        </p:txBody>
      </p:sp>
      <p:sp>
        <p:nvSpPr>
          <p:cNvPr id="4" name="Shape 2"/>
          <p:cNvSpPr/>
          <p:nvPr/>
        </p:nvSpPr>
        <p:spPr>
          <a:xfrm>
            <a:off x="10268712" y="301752"/>
            <a:ext cx="82296" cy="82296"/>
          </a:xfrm>
          <a:prstGeom prst="ellipse">
            <a:avLst/>
          </a:prstGeom>
          <a:solidFill>
            <a:srgbClr val="CADCFC"/>
          </a:solidFill>
          <a:ln/>
        </p:spPr>
      </p:sp>
      <p:sp>
        <p:nvSpPr>
          <p:cNvPr id="5" name="Shape 3"/>
          <p:cNvSpPr/>
          <p:nvPr/>
        </p:nvSpPr>
        <p:spPr>
          <a:xfrm>
            <a:off x="10460736" y="210312"/>
            <a:ext cx="82296" cy="82296"/>
          </a:xfrm>
          <a:prstGeom prst="ellipse">
            <a:avLst/>
          </a:prstGeom>
          <a:solidFill>
            <a:srgbClr val="CADCFC"/>
          </a:solidFill>
          <a:ln/>
        </p:spPr>
      </p:sp>
      <p:sp>
        <p:nvSpPr>
          <p:cNvPr id="6" name="Shape 4"/>
          <p:cNvSpPr/>
          <p:nvPr/>
        </p:nvSpPr>
        <p:spPr>
          <a:xfrm>
            <a:off x="10661904" y="210312"/>
            <a:ext cx="82296" cy="82296"/>
          </a:xfrm>
          <a:prstGeom prst="ellipse">
            <a:avLst/>
          </a:prstGeom>
          <a:solidFill>
            <a:srgbClr val="CADCFC"/>
          </a:solidFill>
          <a:ln/>
        </p:spPr>
      </p:sp>
      <p:sp>
        <p:nvSpPr>
          <p:cNvPr id="7" name="Shape 5"/>
          <p:cNvSpPr/>
          <p:nvPr/>
        </p:nvSpPr>
        <p:spPr>
          <a:xfrm>
            <a:off x="10853928" y="301752"/>
            <a:ext cx="82296" cy="82296"/>
          </a:xfrm>
          <a:prstGeom prst="ellipse">
            <a:avLst/>
          </a:prstGeom>
          <a:solidFill>
            <a:srgbClr val="CADCFC"/>
          </a:solidFill>
          <a:ln/>
        </p:spPr>
      </p:sp>
      <p:sp>
        <p:nvSpPr>
          <p:cNvPr id="8" name="Shape 6"/>
          <p:cNvSpPr/>
          <p:nvPr/>
        </p:nvSpPr>
        <p:spPr>
          <a:xfrm>
            <a:off x="10497312" y="539496"/>
            <a:ext cx="128016" cy="128016"/>
          </a:xfrm>
          <a:prstGeom prst="ellipse">
            <a:avLst/>
          </a:prstGeom>
          <a:solidFill>
            <a:srgbClr val="F2A93B"/>
          </a:solidFill>
          <a:ln/>
        </p:spPr>
      </p:sp>
      <p:sp>
        <p:nvSpPr>
          <p:cNvPr id="9" name="Shape 7"/>
          <p:cNvSpPr/>
          <p:nvPr/>
        </p:nvSpPr>
        <p:spPr>
          <a:xfrm>
            <a:off x="548640" y="1371600"/>
            <a:ext cx="5120640" cy="4663440"/>
          </a:xfrm>
          <a:prstGeom prst="roundRect">
            <a:avLst>
              <a:gd name="adj" fmla="val 1569"/>
            </a:avLst>
          </a:prstGeom>
          <a:solidFill>
            <a:srgbClr val="F4F6FB"/>
          </a:solidFill>
          <a:ln w="12700">
            <a:solidFill>
              <a:srgbClr val="E1E6F0"/>
            </a:solidFill>
            <a:prstDash val="solid"/>
          </a:ln>
          <a:effectLst>
            <a:outerShdw sx="100000" sy="100000" kx="0" ky="0" algn="bl" rotWithShape="0" blurRad="101600" dist="38100" dir="5400000">
              <a:srgbClr val="1E2761">
                <a:alpha val="12000"/>
              </a:srgbClr>
            </a:outerShdw>
          </a:effectLst>
        </p:spPr>
      </p:sp>
      <p:sp>
        <p:nvSpPr>
          <p:cNvPr id="10" name="Text 8"/>
          <p:cNvSpPr txBox="1"/>
          <p:nvPr/>
        </p:nvSpPr>
        <p:spPr>
          <a:xfrm>
            <a:off x="822960" y="1554480"/>
            <a:ext cx="457200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Blast Radius</a:t>
            </a:r>
            <a:endParaRPr lang="en-US" sz="1600" dirty="0"/>
          </a:p>
        </p:txBody>
      </p:sp>
      <p:pic>
        <p:nvPicPr>
          <p:cNvPr id="11" name="Image 0" descr="assets/blast_radius.png">    </p:cNvPr>
          <p:cNvPicPr>
            <a:picLocks noChangeAspect="1"/>
          </p:cNvPicPr>
          <p:nvPr/>
        </p:nvPicPr>
        <p:blipFill>
          <a:blip r:embed="rId1"/>
          <a:stretch>
            <a:fillRect/>
          </a:stretch>
        </p:blipFill>
        <p:spPr>
          <a:xfrm>
            <a:off x="1188720" y="1965960"/>
            <a:ext cx="3657600" cy="3063240"/>
          </a:xfrm>
          <a:prstGeom prst="rect">
            <a:avLst/>
          </a:prstGeom>
        </p:spPr>
      </p:pic>
      <p:sp>
        <p:nvSpPr>
          <p:cNvPr id="12" name="Text 9"/>
          <p:cNvSpPr txBox="1"/>
          <p:nvPr/>
        </p:nvSpPr>
        <p:spPr>
          <a:xfrm>
            <a:off x="822960" y="5166360"/>
            <a:ext cx="4572000" cy="777240"/>
          </a:xfrm>
          <a:prstGeom prst="rect">
            <a:avLst/>
          </a:prstGeom>
          <a:noFill/>
          <a:ln/>
        </p:spPr>
        <p:txBody>
          <a:bodyPr wrap="square" lIns="0" tIns="0" rIns="0" bIns="0" rtlCol="0" anchor="ctr"/>
          <a:lstStyle/>
          <a:p>
            <a:pPr indent="0" marL="0">
              <a:buNone/>
            </a:pPr>
            <a:r>
              <a:rPr lang="en-US" sz="1150" i="1" dirty="0">
                <a:solidFill>
                  <a:srgbClr val="5B6B8C"/>
                </a:solidFill>
                <a:latin typeface="Calibri" pitchFamily="34" charset="0"/>
                <a:ea typeface="Calibri" pitchFamily="34" charset="-122"/>
                <a:cs typeface="Calibri" pitchFamily="34" charset="-120"/>
              </a:rPr>
              <a:t>Real reverse-dependency search, not a simulation: tasks.py's SQL-injection finding has 1 confirmed dependent (main.py) in this exact repo.</a:t>
            </a:r>
            <a:endParaRPr lang="en-US" sz="1150" dirty="0"/>
          </a:p>
        </p:txBody>
      </p:sp>
      <p:sp>
        <p:nvSpPr>
          <p:cNvPr id="13" name="Shape 10"/>
          <p:cNvSpPr/>
          <p:nvPr/>
        </p:nvSpPr>
        <p:spPr>
          <a:xfrm>
            <a:off x="5943600" y="1371600"/>
            <a:ext cx="5669280" cy="4663440"/>
          </a:xfrm>
          <a:prstGeom prst="roundRect">
            <a:avLst>
              <a:gd name="adj" fmla="val 1569"/>
            </a:avLst>
          </a:prstGeom>
          <a:solidFill>
            <a:srgbClr val="F4F6FB"/>
          </a:solidFill>
          <a:ln w="12700">
            <a:solidFill>
              <a:srgbClr val="E1E6F0"/>
            </a:solidFill>
            <a:prstDash val="solid"/>
          </a:ln>
          <a:effectLst>
            <a:outerShdw sx="100000" sy="100000" kx="0" ky="0" algn="bl" rotWithShape="0" blurRad="101600" dist="38100" dir="5400000">
              <a:srgbClr val="1E2761">
                <a:alpha val="12000"/>
              </a:srgbClr>
            </a:outerShdw>
          </a:effectLst>
        </p:spPr>
      </p:sp>
      <p:sp>
        <p:nvSpPr>
          <p:cNvPr id="14" name="Text 11"/>
          <p:cNvSpPr txBox="1"/>
          <p:nvPr/>
        </p:nvSpPr>
        <p:spPr>
          <a:xfrm>
            <a:off x="6217920" y="1554480"/>
            <a:ext cx="512064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Pre-Mortem Intelligence</a:t>
            </a:r>
            <a:endParaRPr lang="en-US" sz="1600" dirty="0"/>
          </a:p>
        </p:txBody>
      </p:sp>
      <p:sp>
        <p:nvSpPr>
          <p:cNvPr id="15" name="Text 12"/>
          <p:cNvSpPr txBox="1"/>
          <p:nvPr/>
        </p:nvSpPr>
        <p:spPr>
          <a:xfrm>
            <a:off x="6217920" y="2011680"/>
            <a:ext cx="5120640" cy="228600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1A1A2E"/>
                </a:solidFill>
                <a:latin typeface="Calibri" pitchFamily="34" charset="0"/>
                <a:ea typeface="Calibri" pitchFamily="34" charset="-122"/>
                <a:cs typeface="Calibri" pitchFamily="34" charset="-120"/>
              </a:rPr>
              <a:t>A request arrives with a crafted value instead of ordinary input.</a:t>
            </a:r>
            <a:endParaRPr lang="en-US" sz="1200" dirty="0"/>
          </a:p>
          <a:p>
            <a:pPr marL="342900" indent="-342900">
              <a:spcAft>
                <a:spcPts val="900"/>
              </a:spcAft>
              <a:buSzPct val="100000"/>
              <a:buChar char="•"/>
            </a:pPr>
            <a:r>
              <a:rPr lang="en-US" sz="1200" dirty="0">
                <a:solidFill>
                  <a:srgbClr val="1A1A2E"/>
                </a:solidFill>
                <a:latin typeface="Calibri" pitchFamily="34" charset="0"/>
                <a:ea typeface="Calibri" pitchFamily="34" charset="-122"/>
                <a:cs typeface="Calibri" pitchFamily="34" charset="-120"/>
              </a:rPr>
              <a:t>The query executes with that value spliced directly into SQL instead of bound as a parameter.</a:t>
            </a:r>
            <a:endParaRPr lang="en-US" sz="1200" dirty="0"/>
          </a:p>
          <a:p>
            <a:pPr marL="342900" indent="-342900">
              <a:spcAft>
                <a:spcPts val="900"/>
              </a:spcAft>
              <a:buSzPct val="100000"/>
              <a:buChar char="•"/>
            </a:pPr>
            <a:r>
              <a:rPr lang="en-US" sz="1200" dirty="0">
                <a:solidFill>
                  <a:srgbClr val="1A1A2E"/>
                </a:solidFill>
                <a:latin typeface="Calibri" pitchFamily="34" charset="0"/>
                <a:ea typeface="Calibri" pitchFamily="34" charset="-122"/>
                <a:cs typeface="Calibri" pitchFamily="34" charset="-120"/>
              </a:rPr>
              <a:t>The database returns rows the caller was never meant to see -- or a second statement executes outright.</a:t>
            </a:r>
            <a:endParaRPr lang="en-US" sz="1200" dirty="0"/>
          </a:p>
          <a:p>
            <a:pPr marL="342900" indent="-342900">
              <a:spcAft>
                <a:spcPts val="900"/>
              </a:spcAft>
              <a:buSzPct val="100000"/>
              <a:buChar char="•"/>
            </a:pPr>
            <a:r>
              <a:rPr lang="en-US" sz="1200" dirty="0">
                <a:solidFill>
                  <a:srgbClr val="1A1A2E"/>
                </a:solidFill>
                <a:latin typeface="Calibri" pitchFamily="34" charset="0"/>
                <a:ea typeface="Calibri" pitchFamily="34" charset="-122"/>
                <a:cs typeface="Calibri" pitchFamily="34" charset="-120"/>
              </a:rPr>
              <a:t>By the time anyone notices, the data has already been read, altered, or exfiltrated.</a:t>
            </a:r>
            <a:endParaRPr lang="en-US" sz="1200" dirty="0"/>
          </a:p>
        </p:txBody>
      </p:sp>
      <p:sp>
        <p:nvSpPr>
          <p:cNvPr id="16" name="Shape 13"/>
          <p:cNvSpPr/>
          <p:nvPr/>
        </p:nvSpPr>
        <p:spPr>
          <a:xfrm>
            <a:off x="6217920" y="4434840"/>
            <a:ext cx="5120640" cy="1463040"/>
          </a:xfrm>
          <a:prstGeom prst="roundRect">
            <a:avLst>
              <a:gd name="adj" fmla="val 5000"/>
            </a:avLst>
          </a:prstGeom>
          <a:solidFill>
            <a:srgbClr val="1E2761"/>
          </a:solidFill>
          <a:ln w="12700">
            <a:solidFill>
              <a:srgbClr val="1E2761"/>
            </a:solidFill>
            <a:prstDash val="solid"/>
          </a:ln>
          <a:effectLst>
            <a:outerShdw sx="100000" sy="100000" kx="0" ky="0" algn="bl" rotWithShape="0" blurRad="101600" dist="38100" dir="5400000">
              <a:srgbClr val="1E2761">
                <a:alpha val="12000"/>
              </a:srgbClr>
            </a:outerShdw>
          </a:effectLst>
        </p:spPr>
      </p:sp>
      <p:sp>
        <p:nvSpPr>
          <p:cNvPr id="17" name="Text 14"/>
          <p:cNvSpPr txBox="1"/>
          <p:nvPr/>
        </p:nvSpPr>
        <p:spPr>
          <a:xfrm>
            <a:off x="6400800" y="4434840"/>
            <a:ext cx="4754880" cy="14630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Prevention: fix it now (see Auto-Fix) -- there's no monitoring workaround for a bug that's already in the code path. Narrative can be phrased by watsonx.ai; falls back to this same template text otherwise.</a:t>
            </a:r>
            <a:endParaRPr lang="en-US" sz="1150" dirty="0"/>
          </a:p>
        </p:txBody>
      </p:sp>
      <p:sp>
        <p:nvSpPr>
          <p:cNvPr id="18" name="Text 15"/>
          <p:cNvSpPr txBox="1"/>
          <p:nvPr/>
        </p:nvSpPr>
        <p:spPr>
          <a:xfrm>
            <a:off x="548640" y="6528816"/>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DevPilot — IBM Bob 2.0 Hackathon</a:t>
            </a:r>
            <a:endParaRPr lang="en-US" sz="1000" dirty="0"/>
          </a:p>
        </p:txBody>
      </p:sp>
      <p:sp>
        <p:nvSpPr>
          <p:cNvPr id="19" name="Text 16"/>
          <p:cNvSpPr txBox="1"/>
          <p:nvPr/>
        </p:nvSpPr>
        <p:spPr>
          <a:xfrm>
            <a:off x="11521440" y="6528816"/>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28016"/>
            <a:ext cx="7315200" cy="274320"/>
          </a:xfrm>
          <a:prstGeom prst="rect">
            <a:avLst/>
          </a:prstGeom>
          <a:noFill/>
          <a:ln/>
        </p:spPr>
        <p:txBody>
          <a:bodyPr wrap="square" lIns="0" tIns="0" rIns="0" bIns="0"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NEW THIS VERSION</a:t>
            </a:r>
            <a:endParaRPr lang="en-US" sz="1200" dirty="0"/>
          </a:p>
        </p:txBody>
      </p:sp>
      <p:sp>
        <p:nvSpPr>
          <p:cNvPr id="3" name="Text 1"/>
          <p:cNvSpPr txBox="1"/>
          <p:nvPr/>
        </p:nvSpPr>
        <p:spPr>
          <a:xfrm>
            <a:off x="548640" y="384048"/>
            <a:ext cx="969264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 number for leadership. A memory for the codebase.</a:t>
            </a:r>
            <a:endParaRPr lang="en-US" sz="3000" dirty="0"/>
          </a:p>
        </p:txBody>
      </p:sp>
      <p:sp>
        <p:nvSpPr>
          <p:cNvPr id="4" name="Shape 2"/>
          <p:cNvSpPr/>
          <p:nvPr/>
        </p:nvSpPr>
        <p:spPr>
          <a:xfrm>
            <a:off x="10268712" y="301752"/>
            <a:ext cx="82296" cy="82296"/>
          </a:xfrm>
          <a:prstGeom prst="ellipse">
            <a:avLst/>
          </a:prstGeom>
          <a:solidFill>
            <a:srgbClr val="CADCFC"/>
          </a:solidFill>
          <a:ln/>
        </p:spPr>
      </p:sp>
      <p:sp>
        <p:nvSpPr>
          <p:cNvPr id="5" name="Shape 3"/>
          <p:cNvSpPr/>
          <p:nvPr/>
        </p:nvSpPr>
        <p:spPr>
          <a:xfrm>
            <a:off x="10460736" y="210312"/>
            <a:ext cx="82296" cy="82296"/>
          </a:xfrm>
          <a:prstGeom prst="ellipse">
            <a:avLst/>
          </a:prstGeom>
          <a:solidFill>
            <a:srgbClr val="CADCFC"/>
          </a:solidFill>
          <a:ln/>
        </p:spPr>
      </p:sp>
      <p:sp>
        <p:nvSpPr>
          <p:cNvPr id="6" name="Shape 4"/>
          <p:cNvSpPr/>
          <p:nvPr/>
        </p:nvSpPr>
        <p:spPr>
          <a:xfrm>
            <a:off x="10661904" y="210312"/>
            <a:ext cx="82296" cy="82296"/>
          </a:xfrm>
          <a:prstGeom prst="ellipse">
            <a:avLst/>
          </a:prstGeom>
          <a:solidFill>
            <a:srgbClr val="CADCFC"/>
          </a:solidFill>
          <a:ln/>
        </p:spPr>
      </p:sp>
      <p:sp>
        <p:nvSpPr>
          <p:cNvPr id="7" name="Shape 5"/>
          <p:cNvSpPr/>
          <p:nvPr/>
        </p:nvSpPr>
        <p:spPr>
          <a:xfrm>
            <a:off x="10853928" y="301752"/>
            <a:ext cx="82296" cy="82296"/>
          </a:xfrm>
          <a:prstGeom prst="ellipse">
            <a:avLst/>
          </a:prstGeom>
          <a:solidFill>
            <a:srgbClr val="CADCFC"/>
          </a:solidFill>
          <a:ln/>
        </p:spPr>
      </p:sp>
      <p:sp>
        <p:nvSpPr>
          <p:cNvPr id="8" name="Shape 6"/>
          <p:cNvSpPr/>
          <p:nvPr/>
        </p:nvSpPr>
        <p:spPr>
          <a:xfrm>
            <a:off x="10497312" y="539496"/>
            <a:ext cx="128016" cy="128016"/>
          </a:xfrm>
          <a:prstGeom prst="ellipse">
            <a:avLst/>
          </a:prstGeom>
          <a:solidFill>
            <a:srgbClr val="F2A93B"/>
          </a:solidFill>
          <a:ln/>
        </p:spPr>
      </p:sp>
      <p:sp>
        <p:nvSpPr>
          <p:cNvPr id="9" name="Shape 7"/>
          <p:cNvSpPr/>
          <p:nvPr/>
        </p:nvSpPr>
        <p:spPr>
          <a:xfrm>
            <a:off x="548640" y="1371600"/>
            <a:ext cx="5120640" cy="4663440"/>
          </a:xfrm>
          <a:prstGeom prst="roundRect">
            <a:avLst>
              <a:gd name="adj" fmla="val 1569"/>
            </a:avLst>
          </a:prstGeom>
          <a:solidFill>
            <a:srgbClr val="F4F6FB"/>
          </a:solidFill>
          <a:ln w="12700">
            <a:solidFill>
              <a:srgbClr val="E1E6F0"/>
            </a:solidFill>
            <a:prstDash val="solid"/>
          </a:ln>
          <a:effectLst>
            <a:outerShdw sx="100000" sy="100000" kx="0" ky="0" algn="bl" rotWithShape="0" blurRad="101600" dist="38100" dir="5400000">
              <a:srgbClr val="1E2761">
                <a:alpha val="12000"/>
              </a:srgbClr>
            </a:outerShdw>
          </a:effectLst>
        </p:spPr>
      </p:sp>
      <p:sp>
        <p:nvSpPr>
          <p:cNvPr id="10" name="Text 8"/>
          <p:cNvSpPr txBox="1"/>
          <p:nvPr/>
        </p:nvSpPr>
        <p:spPr>
          <a:xfrm>
            <a:off x="822960" y="1554480"/>
            <a:ext cx="457200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Executive Intelligence</a:t>
            </a:r>
            <a:endParaRPr lang="en-US" sz="1600" dirty="0"/>
          </a:p>
        </p:txBody>
      </p:sp>
      <p:sp>
        <p:nvSpPr>
          <p:cNvPr id="11" name="Text 9"/>
          <p:cNvSpPr txBox="1"/>
          <p:nvPr/>
        </p:nvSpPr>
        <p:spPr>
          <a:xfrm>
            <a:off x="822960" y="2057400"/>
            <a:ext cx="1737360" cy="54864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54/100</a:t>
            </a:r>
            <a:endParaRPr lang="en-US" sz="2200" dirty="0"/>
          </a:p>
        </p:txBody>
      </p:sp>
      <p:sp>
        <p:nvSpPr>
          <p:cNvPr id="12" name="Text 10"/>
          <p:cNvSpPr txBox="1"/>
          <p:nvPr/>
        </p:nvSpPr>
        <p:spPr>
          <a:xfrm>
            <a:off x="2514600" y="2130552"/>
            <a:ext cx="3246120" cy="548640"/>
          </a:xfrm>
          <a:prstGeom prst="rect">
            <a:avLst/>
          </a:prstGeom>
          <a:noFill/>
          <a:ln/>
        </p:spPr>
        <p:txBody>
          <a:bodyPr wrap="square" lIns="0" tIns="0" rIns="0" bIns="0" rtlCol="0" anchor="ctr"/>
          <a:lstStyle/>
          <a:p>
            <a:pPr indent="0" marL="0">
              <a:buNone/>
            </a:pPr>
            <a:r>
              <a:rPr lang="en-US" sz="1200" dirty="0">
                <a:solidFill>
                  <a:srgbClr val="5B6B8C"/>
                </a:solidFill>
                <a:latin typeface="Calibri" pitchFamily="34" charset="0"/>
                <a:ea typeface="Calibri" pitchFamily="34" charset="-122"/>
                <a:cs typeface="Calibri" pitchFamily="34" charset="-120"/>
              </a:rPr>
              <a:t>health score (Critical)</a:t>
            </a:r>
            <a:endParaRPr lang="en-US" sz="1200" dirty="0"/>
          </a:p>
        </p:txBody>
      </p:sp>
      <p:sp>
        <p:nvSpPr>
          <p:cNvPr id="13" name="Text 11"/>
          <p:cNvSpPr txBox="1"/>
          <p:nvPr/>
        </p:nvSpPr>
        <p:spPr>
          <a:xfrm>
            <a:off x="822960" y="2715768"/>
            <a:ext cx="1737360" cy="54864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NO-GO</a:t>
            </a:r>
            <a:endParaRPr lang="en-US" sz="2200" dirty="0"/>
          </a:p>
        </p:txBody>
      </p:sp>
      <p:sp>
        <p:nvSpPr>
          <p:cNvPr id="14" name="Text 12"/>
          <p:cNvSpPr txBox="1"/>
          <p:nvPr/>
        </p:nvSpPr>
        <p:spPr>
          <a:xfrm>
            <a:off x="2514600" y="2788920"/>
            <a:ext cx="3246120" cy="548640"/>
          </a:xfrm>
          <a:prstGeom prst="rect">
            <a:avLst/>
          </a:prstGeom>
          <a:noFill/>
          <a:ln/>
        </p:spPr>
        <p:txBody>
          <a:bodyPr wrap="square" lIns="0" tIns="0" rIns="0" bIns="0" rtlCol="0" anchor="ctr"/>
          <a:lstStyle/>
          <a:p>
            <a:pPr indent="0" marL="0">
              <a:buNone/>
            </a:pPr>
            <a:r>
              <a:rPr lang="en-US" sz="1200" dirty="0">
                <a:solidFill>
                  <a:srgbClr val="5B6B8C"/>
                </a:solidFill>
                <a:latin typeface="Calibri" pitchFamily="34" charset="0"/>
                <a:ea typeface="Calibri" pitchFamily="34" charset="-122"/>
                <a:cs typeface="Calibri" pitchFamily="34" charset="-120"/>
              </a:rPr>
              <a:t>release recommendation</a:t>
            </a:r>
            <a:endParaRPr lang="en-US" sz="1200" dirty="0"/>
          </a:p>
        </p:txBody>
      </p:sp>
      <p:sp>
        <p:nvSpPr>
          <p:cNvPr id="15" name="Text 13"/>
          <p:cNvSpPr txBox="1"/>
          <p:nvPr/>
        </p:nvSpPr>
        <p:spPr>
          <a:xfrm>
            <a:off x="822960" y="3374136"/>
            <a:ext cx="1737360" cy="54864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4.9h</a:t>
            </a:r>
            <a:endParaRPr lang="en-US" sz="2200" dirty="0"/>
          </a:p>
        </p:txBody>
      </p:sp>
      <p:sp>
        <p:nvSpPr>
          <p:cNvPr id="16" name="Text 14"/>
          <p:cNvSpPr txBox="1"/>
          <p:nvPr/>
        </p:nvSpPr>
        <p:spPr>
          <a:xfrm>
            <a:off x="2514600" y="3447288"/>
            <a:ext cx="3246120" cy="548640"/>
          </a:xfrm>
          <a:prstGeom prst="rect">
            <a:avLst/>
          </a:prstGeom>
          <a:noFill/>
          <a:ln/>
        </p:spPr>
        <p:txBody>
          <a:bodyPr wrap="square" lIns="0" tIns="0" rIns="0" bIns="0" rtlCol="0" anchor="ctr"/>
          <a:lstStyle/>
          <a:p>
            <a:pPr indent="0" marL="0">
              <a:buNone/>
            </a:pPr>
            <a:r>
              <a:rPr lang="en-US" sz="1200" dirty="0">
                <a:solidFill>
                  <a:srgbClr val="5B6B8C"/>
                </a:solidFill>
                <a:latin typeface="Calibri" pitchFamily="34" charset="0"/>
                <a:ea typeface="Calibri" pitchFamily="34" charset="-122"/>
                <a:cs typeface="Calibri" pitchFamily="34" charset="-120"/>
              </a:rPr>
              <a:t>estimated hours saved</a:t>
            </a:r>
            <a:endParaRPr lang="en-US" sz="1200" dirty="0"/>
          </a:p>
        </p:txBody>
      </p:sp>
      <p:sp>
        <p:nvSpPr>
          <p:cNvPr id="17" name="Text 15"/>
          <p:cNvSpPr txBox="1"/>
          <p:nvPr/>
        </p:nvSpPr>
        <p:spPr>
          <a:xfrm>
            <a:off x="822960" y="4032504"/>
            <a:ext cx="1737360" cy="54864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3</a:t>
            </a:r>
            <a:endParaRPr lang="en-US" sz="2200" dirty="0"/>
          </a:p>
        </p:txBody>
      </p:sp>
      <p:sp>
        <p:nvSpPr>
          <p:cNvPr id="18" name="Text 16"/>
          <p:cNvSpPr txBox="1"/>
          <p:nvPr/>
        </p:nvSpPr>
        <p:spPr>
          <a:xfrm>
            <a:off x="2514600" y="4105656"/>
            <a:ext cx="3246120" cy="548640"/>
          </a:xfrm>
          <a:prstGeom prst="rect">
            <a:avLst/>
          </a:prstGeom>
          <a:noFill/>
          <a:ln/>
        </p:spPr>
        <p:txBody>
          <a:bodyPr wrap="square" lIns="0" tIns="0" rIns="0" bIns="0" rtlCol="0" anchor="ctr"/>
          <a:lstStyle/>
          <a:p>
            <a:pPr indent="0" marL="0">
              <a:buNone/>
            </a:pPr>
            <a:r>
              <a:rPr lang="en-US" sz="1200" dirty="0">
                <a:solidFill>
                  <a:srgbClr val="5B6B8C"/>
                </a:solidFill>
                <a:latin typeface="Calibri" pitchFamily="34" charset="0"/>
                <a:ea typeface="Calibri" pitchFamily="34" charset="-122"/>
                <a:cs typeface="Calibri" pitchFamily="34" charset="-120"/>
              </a:rPr>
              <a:t>standout risks (risk portfolio)</a:t>
            </a:r>
            <a:endParaRPr lang="en-US" sz="1200" dirty="0"/>
          </a:p>
        </p:txBody>
      </p:sp>
      <p:sp>
        <p:nvSpPr>
          <p:cNvPr id="19" name="Text 17"/>
          <p:cNvSpPr txBox="1"/>
          <p:nvPr/>
        </p:nvSpPr>
        <p:spPr>
          <a:xfrm>
            <a:off x="822960" y="4828032"/>
            <a:ext cx="4572000" cy="914400"/>
          </a:xfrm>
          <a:prstGeom prst="rect">
            <a:avLst/>
          </a:prstGeom>
          <a:noFill/>
          <a:ln/>
        </p:spPr>
        <p:txBody>
          <a:bodyPr wrap="square" lIns="0" tIns="0" rIns="0" bIns="0" rtlCol="0" anchor="ctr"/>
          <a:lstStyle/>
          <a:p>
            <a:pPr indent="0" marL="0">
              <a:buNone/>
            </a:pPr>
            <a:r>
              <a:rPr lang="en-US" sz="1100" i="1" dirty="0">
                <a:solidFill>
                  <a:srgbClr val="5B6B8C"/>
                </a:solidFill>
                <a:latin typeface="Calibri" pitchFamily="34" charset="0"/>
                <a:ea typeface="Calibri" pitchFamily="34" charset="-122"/>
                <a:cs typeface="Calibri" pitchFamily="34" charset="-120"/>
              </a:rPr>
              <a:t>Deliberately does NOT invent MTTR / MTBF / cost-of-downtime -- those need real production incident telemetry a static-analysis tool doesn't have. Everything above traces to this run's own findings.</a:t>
            </a:r>
            <a:endParaRPr lang="en-US" sz="1100" dirty="0"/>
          </a:p>
        </p:txBody>
      </p:sp>
      <p:sp>
        <p:nvSpPr>
          <p:cNvPr id="20" name="Shape 18"/>
          <p:cNvSpPr/>
          <p:nvPr/>
        </p:nvSpPr>
        <p:spPr>
          <a:xfrm>
            <a:off x="5943600" y="1371600"/>
            <a:ext cx="5669280" cy="4663440"/>
          </a:xfrm>
          <a:prstGeom prst="roundRect">
            <a:avLst>
              <a:gd name="adj" fmla="val 1569"/>
            </a:avLst>
          </a:prstGeom>
          <a:solidFill>
            <a:srgbClr val="F4F6FB"/>
          </a:solidFill>
          <a:ln w="12700">
            <a:solidFill>
              <a:srgbClr val="E1E6F0"/>
            </a:solidFill>
            <a:prstDash val="solid"/>
          </a:ln>
          <a:effectLst>
            <a:outerShdw sx="100000" sy="100000" kx="0" ky="0" algn="bl" rotWithShape="0" blurRad="101600" dist="38100" dir="5400000">
              <a:srgbClr val="1E2761">
                <a:alpha val="12000"/>
              </a:srgbClr>
            </a:outerShdw>
          </a:effectLst>
        </p:spPr>
      </p:sp>
      <p:sp>
        <p:nvSpPr>
          <p:cNvPr id="21" name="Text 19"/>
          <p:cNvSpPr txBox="1"/>
          <p:nvPr/>
        </p:nvSpPr>
        <p:spPr>
          <a:xfrm>
            <a:off x="6217920" y="1554480"/>
            <a:ext cx="512064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Engineering Historian</a:t>
            </a:r>
            <a:endParaRPr lang="en-US" sz="1600" dirty="0"/>
          </a:p>
        </p:txBody>
      </p:sp>
      <p:pic>
        <p:nvPicPr>
          <p:cNvPr id="22" name="Image 0" descr="assets/sparkline.png">    </p:cNvPr>
          <p:cNvPicPr>
            <a:picLocks noChangeAspect="1"/>
          </p:cNvPicPr>
          <p:nvPr/>
        </p:nvPicPr>
        <p:blipFill>
          <a:blip r:embed="rId1"/>
          <a:stretch>
            <a:fillRect/>
          </a:stretch>
        </p:blipFill>
        <p:spPr>
          <a:xfrm>
            <a:off x="6217920" y="2057400"/>
            <a:ext cx="5120640" cy="1051560"/>
          </a:xfrm>
          <a:prstGeom prst="rect">
            <a:avLst/>
          </a:prstGeom>
        </p:spPr>
      </p:pic>
      <p:sp>
        <p:nvSpPr>
          <p:cNvPr id="23" name="Text 20"/>
          <p:cNvSpPr txBox="1"/>
          <p:nvPr/>
        </p:nvSpPr>
        <p:spPr>
          <a:xfrm>
            <a:off x="6217920" y="3200400"/>
            <a:ext cx="5120640" cy="32004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Run 1: 36/100   -&gt;   Run 2: 54/100  (+18, improving)</a:t>
            </a:r>
            <a:endParaRPr lang="en-US" sz="1200" dirty="0"/>
          </a:p>
        </p:txBody>
      </p:sp>
      <p:sp>
        <p:nvSpPr>
          <p:cNvPr id="24" name="Text 21"/>
          <p:cNvSpPr txBox="1"/>
          <p:nvPr/>
        </p:nvSpPr>
        <p:spPr>
          <a:xfrm>
            <a:off x="6217920" y="3657600"/>
            <a:ext cx="5120640" cy="320040"/>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Recurring across every run so far:</a:t>
            </a:r>
            <a:endParaRPr lang="en-US" sz="1200" dirty="0"/>
          </a:p>
        </p:txBody>
      </p:sp>
      <p:sp>
        <p:nvSpPr>
          <p:cNvPr id="25" name="Text 22"/>
          <p:cNvSpPr txBox="1"/>
          <p:nvPr/>
        </p:nvSpPr>
        <p:spPr>
          <a:xfrm>
            <a:off x="6217920" y="3977640"/>
            <a:ext cx="5120640" cy="7315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sql-injection -- seen in 2 of 2 runs</a:t>
            </a:r>
            <a:endParaRPr lang="en-US" sz="1200" dirty="0"/>
          </a:p>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unchecked-lookup -- seen in 2 of 2 runs</a:t>
            </a:r>
            <a:endParaRPr lang="en-US" sz="1200" dirty="0"/>
          </a:p>
        </p:txBody>
      </p:sp>
      <p:sp>
        <p:nvSpPr>
          <p:cNvPr id="26" name="Text 23"/>
          <p:cNvSpPr txBox="1"/>
          <p:nvPr/>
        </p:nvSpPr>
        <p:spPr>
          <a:xfrm>
            <a:off x="6217920" y="4892040"/>
            <a:ext cx="5120640" cy="914400"/>
          </a:xfrm>
          <a:prstGeom prst="rect">
            <a:avLst/>
          </a:prstGeom>
          <a:noFill/>
          <a:ln/>
        </p:spPr>
        <p:txBody>
          <a:bodyPr wrap="square" lIns="0" tIns="0" rIns="0" bIns="0" rtlCol="0" anchor="ctr"/>
          <a:lstStyle/>
          <a:p>
            <a:pPr indent="0" marL="0">
              <a:buNone/>
            </a:pPr>
            <a:r>
              <a:rPr lang="en-US" sz="1100" i="1" dirty="0">
                <a:solidFill>
                  <a:srgbClr val="5B6B8C"/>
                </a:solidFill>
                <a:latin typeface="Calibri" pitchFamily="34" charset="0"/>
                <a:ea typeface="Calibri" pitchFamily="34" charset="-122"/>
                <a:cs typeface="Calibri" pitchFamily="34" charset="-120"/>
              </a:rPr>
              <a:t>A small local JSON log per project (no database) -- this is what turns "a finding" into "an architectural weakness we keep re-introducing."</a:t>
            </a:r>
            <a:endParaRPr lang="en-US" sz="1100" dirty="0"/>
          </a:p>
        </p:txBody>
      </p:sp>
      <p:sp>
        <p:nvSpPr>
          <p:cNvPr id="27" name="Text 24"/>
          <p:cNvSpPr txBox="1"/>
          <p:nvPr/>
        </p:nvSpPr>
        <p:spPr>
          <a:xfrm>
            <a:off x="548640" y="6528816"/>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DevPilot — IBM Bob 2.0 Hackathon</a:t>
            </a:r>
            <a:endParaRPr lang="en-US" sz="1000" dirty="0"/>
          </a:p>
        </p:txBody>
      </p:sp>
      <p:sp>
        <p:nvSpPr>
          <p:cNvPr id="28" name="Text 25"/>
          <p:cNvSpPr txBox="1"/>
          <p:nvPr/>
        </p:nvSpPr>
        <p:spPr>
          <a:xfrm>
            <a:off x="11521440" y="6528816"/>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28016"/>
            <a:ext cx="7315200" cy="274320"/>
          </a:xfrm>
          <a:prstGeom prst="rect">
            <a:avLst/>
          </a:prstGeom>
          <a:noFill/>
          <a:ln/>
        </p:spPr>
        <p:txBody>
          <a:bodyPr wrap="square" lIns="0" tIns="0" rIns="0" bIns="0"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NEW THIS VERSION</a:t>
            </a:r>
            <a:endParaRPr lang="en-US" sz="1200" dirty="0"/>
          </a:p>
        </p:txBody>
      </p:sp>
      <p:sp>
        <p:nvSpPr>
          <p:cNvPr id="3" name="Text 1"/>
          <p:cNvSpPr txBox="1"/>
          <p:nvPr/>
        </p:nvSpPr>
        <p:spPr>
          <a:xfrm>
            <a:off x="548640" y="384048"/>
            <a:ext cx="969264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whole map, a demo tab, and a friendlier coat of paint</a:t>
            </a:r>
            <a:endParaRPr lang="en-US" sz="3000" dirty="0"/>
          </a:p>
        </p:txBody>
      </p:sp>
      <p:sp>
        <p:nvSpPr>
          <p:cNvPr id="4" name="Shape 2"/>
          <p:cNvSpPr/>
          <p:nvPr/>
        </p:nvSpPr>
        <p:spPr>
          <a:xfrm>
            <a:off x="10268712" y="301752"/>
            <a:ext cx="82296" cy="82296"/>
          </a:xfrm>
          <a:prstGeom prst="ellipse">
            <a:avLst/>
          </a:prstGeom>
          <a:solidFill>
            <a:srgbClr val="CADCFC"/>
          </a:solidFill>
          <a:ln/>
        </p:spPr>
      </p:sp>
      <p:sp>
        <p:nvSpPr>
          <p:cNvPr id="5" name="Shape 3"/>
          <p:cNvSpPr/>
          <p:nvPr/>
        </p:nvSpPr>
        <p:spPr>
          <a:xfrm>
            <a:off x="10460736" y="210312"/>
            <a:ext cx="82296" cy="82296"/>
          </a:xfrm>
          <a:prstGeom prst="ellipse">
            <a:avLst/>
          </a:prstGeom>
          <a:solidFill>
            <a:srgbClr val="CADCFC"/>
          </a:solidFill>
          <a:ln/>
        </p:spPr>
      </p:sp>
      <p:sp>
        <p:nvSpPr>
          <p:cNvPr id="6" name="Shape 4"/>
          <p:cNvSpPr/>
          <p:nvPr/>
        </p:nvSpPr>
        <p:spPr>
          <a:xfrm>
            <a:off x="10661904" y="210312"/>
            <a:ext cx="82296" cy="82296"/>
          </a:xfrm>
          <a:prstGeom prst="ellipse">
            <a:avLst/>
          </a:prstGeom>
          <a:solidFill>
            <a:srgbClr val="CADCFC"/>
          </a:solidFill>
          <a:ln/>
        </p:spPr>
      </p:sp>
      <p:sp>
        <p:nvSpPr>
          <p:cNvPr id="7" name="Shape 5"/>
          <p:cNvSpPr/>
          <p:nvPr/>
        </p:nvSpPr>
        <p:spPr>
          <a:xfrm>
            <a:off x="10853928" y="301752"/>
            <a:ext cx="82296" cy="82296"/>
          </a:xfrm>
          <a:prstGeom prst="ellipse">
            <a:avLst/>
          </a:prstGeom>
          <a:solidFill>
            <a:srgbClr val="CADCFC"/>
          </a:solidFill>
          <a:ln/>
        </p:spPr>
      </p:sp>
      <p:sp>
        <p:nvSpPr>
          <p:cNvPr id="8" name="Shape 6"/>
          <p:cNvSpPr/>
          <p:nvPr/>
        </p:nvSpPr>
        <p:spPr>
          <a:xfrm>
            <a:off x="10497312" y="539496"/>
            <a:ext cx="128016" cy="128016"/>
          </a:xfrm>
          <a:prstGeom prst="ellipse">
            <a:avLst/>
          </a:prstGeom>
          <a:solidFill>
            <a:srgbClr val="F2A93B"/>
          </a:solidFill>
          <a:ln/>
        </p:spPr>
      </p:sp>
      <p:sp>
        <p:nvSpPr>
          <p:cNvPr id="9" name="Shape 7"/>
          <p:cNvSpPr/>
          <p:nvPr/>
        </p:nvSpPr>
        <p:spPr>
          <a:xfrm>
            <a:off x="548640" y="1371600"/>
            <a:ext cx="5486400" cy="4663440"/>
          </a:xfrm>
          <a:prstGeom prst="roundRect">
            <a:avLst>
              <a:gd name="adj" fmla="val 1569"/>
            </a:avLst>
          </a:prstGeom>
          <a:solidFill>
            <a:srgbClr val="F4F6FB"/>
          </a:solidFill>
          <a:ln w="12700">
            <a:solidFill>
              <a:srgbClr val="E1E6F0"/>
            </a:solidFill>
            <a:prstDash val="solid"/>
          </a:ln>
          <a:effectLst>
            <a:outerShdw sx="100000" sy="100000" kx="0" ky="0" algn="bl" rotWithShape="0" blurRad="101600" dist="38100" dir="5400000">
              <a:srgbClr val="1E2761">
                <a:alpha val="12000"/>
              </a:srgbClr>
            </a:outerShdw>
          </a:effectLst>
        </p:spPr>
      </p:sp>
      <p:sp>
        <p:nvSpPr>
          <p:cNvPr id="10" name="Text 8"/>
          <p:cNvSpPr txBox="1"/>
          <p:nvPr/>
        </p:nvSpPr>
        <p:spPr>
          <a:xfrm>
            <a:off x="822960" y="1554480"/>
            <a:ext cx="4937760" cy="3657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Dependency Map -- microblog, live clone</a:t>
            </a:r>
            <a:endParaRPr lang="en-US" sz="1500" dirty="0"/>
          </a:p>
        </p:txBody>
      </p:sp>
      <p:pic>
        <p:nvPicPr>
          <p:cNvPr id="11" name="Image 0" descr="assets/dependency_map.png">    </p:cNvPr>
          <p:cNvPicPr>
            <a:picLocks noChangeAspect="1"/>
          </p:cNvPicPr>
          <p:nvPr/>
        </p:nvPicPr>
        <p:blipFill>
          <a:blip r:embed="rId1"/>
          <a:stretch>
            <a:fillRect/>
          </a:stretch>
        </p:blipFill>
        <p:spPr>
          <a:xfrm>
            <a:off x="914400" y="1920240"/>
            <a:ext cx="4937760" cy="3931920"/>
          </a:xfrm>
          <a:prstGeom prst="rect">
            <a:avLst/>
          </a:prstGeom>
        </p:spPr>
      </p:pic>
      <p:sp>
        <p:nvSpPr>
          <p:cNvPr id="12" name="Shape 9"/>
          <p:cNvSpPr/>
          <p:nvPr/>
        </p:nvSpPr>
        <p:spPr>
          <a:xfrm>
            <a:off x="6309360" y="1371600"/>
            <a:ext cx="5303520" cy="4663440"/>
          </a:xfrm>
          <a:prstGeom prst="roundRect">
            <a:avLst>
              <a:gd name="adj" fmla="val 1569"/>
            </a:avLst>
          </a:prstGeom>
          <a:solidFill>
            <a:srgbClr val="F4F6FB"/>
          </a:solidFill>
          <a:ln w="12700">
            <a:solidFill>
              <a:srgbClr val="E1E6F0"/>
            </a:solidFill>
            <a:prstDash val="solid"/>
          </a:ln>
          <a:effectLst>
            <a:outerShdw sx="100000" sy="100000" kx="0" ky="0" algn="bl" rotWithShape="0" blurRad="101600" dist="38100" dir="5400000">
              <a:srgbClr val="1E2761">
                <a:alpha val="12000"/>
              </a:srgbClr>
            </a:outerShdw>
          </a:effectLst>
        </p:spPr>
      </p:sp>
      <p:sp>
        <p:nvSpPr>
          <p:cNvPr id="13" name="Text 10"/>
          <p:cNvSpPr txBox="1"/>
          <p:nvPr/>
        </p:nvSpPr>
        <p:spPr>
          <a:xfrm>
            <a:off x="6583680" y="1600200"/>
            <a:ext cx="4754880" cy="32004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Demo Video tab</a:t>
            </a:r>
            <a:endParaRPr lang="en-US" sz="1400" dirty="0"/>
          </a:p>
        </p:txBody>
      </p:sp>
      <p:sp>
        <p:nvSpPr>
          <p:cNvPr id="14" name="Text 11"/>
          <p:cNvSpPr txBox="1"/>
          <p:nvPr/>
        </p:nvSpPr>
        <p:spPr>
          <a:xfrm>
            <a:off x="6583680" y="1965960"/>
            <a:ext cx="4846320" cy="777240"/>
          </a:xfrm>
          <a:prstGeom prst="rect">
            <a:avLst/>
          </a:prstGeom>
          <a:noFill/>
          <a:ln/>
        </p:spPr>
        <p:txBody>
          <a:bodyPr wrap="square" lIns="0" tIns="0" rIns="0" bIns="0" rtlCol="0" anchor="t"/>
          <a:lstStyle/>
          <a:p>
            <a:pPr indent="0" marL="0">
              <a:buNone/>
            </a:pPr>
            <a:r>
              <a:rPr lang="en-US" sz="1150" dirty="0">
                <a:solidFill>
                  <a:srgbClr val="1A1A2E"/>
                </a:solidFill>
                <a:latin typeface="Calibri" pitchFamily="34" charset="0"/>
                <a:ea typeface="Calibri" pitchFamily="34" charset="-122"/>
                <a:cs typeface="Calibri" pitchFamily="34" charset="-120"/>
              </a:rPr>
              <a:t>Drop a demo_video.mp4 next to webui.py and it plays natively in its own tab, with real seek/scrub support -- a friendly placeholder shows instead if there isn't one.</a:t>
            </a:r>
            <a:endParaRPr lang="en-US" sz="1150" dirty="0"/>
          </a:p>
        </p:txBody>
      </p:sp>
      <p:sp>
        <p:nvSpPr>
          <p:cNvPr id="15" name="Text 12"/>
          <p:cNvSpPr txBox="1"/>
          <p:nvPr/>
        </p:nvSpPr>
        <p:spPr>
          <a:xfrm>
            <a:off x="6583680" y="2880360"/>
            <a:ext cx="4754880" cy="32004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Cinematic touches</a:t>
            </a:r>
            <a:endParaRPr lang="en-US" sz="1400" dirty="0"/>
          </a:p>
        </p:txBody>
      </p:sp>
      <p:sp>
        <p:nvSpPr>
          <p:cNvPr id="16" name="Text 13"/>
          <p:cNvSpPr txBox="1"/>
          <p:nvPr/>
        </p:nvSpPr>
        <p:spPr>
          <a:xfrm>
            <a:off x="6583680" y="3246120"/>
            <a:ext cx="4846320" cy="10058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A1A2E"/>
                </a:solidFill>
                <a:latin typeface="Calibri" pitchFamily="34" charset="0"/>
                <a:ea typeface="Calibri" pitchFamily="34" charset="-122"/>
                <a:cs typeface="Calibri" pitchFamily="34" charset="-120"/>
              </a:rPr>
              <a:t>Panels fade in on tab switch</a:t>
            </a:r>
            <a:endParaRPr lang="en-US" sz="1150" dirty="0"/>
          </a:p>
          <a:p>
            <a:pPr marL="342900" indent="-342900">
              <a:spcAft>
                <a:spcPts val="600"/>
              </a:spcAft>
              <a:buSzPct val="100000"/>
              <a:buChar char="•"/>
            </a:pPr>
            <a:r>
              <a:rPr lang="en-US" sz="1150" dirty="0">
                <a:solidFill>
                  <a:srgbClr val="1A1A2E"/>
                </a:solidFill>
                <a:latin typeface="Calibri" pitchFamily="34" charset="0"/>
                <a:ea typeface="Calibri" pitchFamily="34" charset="-122"/>
                <a:cs typeface="Calibri" pitchFamily="34" charset="-120"/>
              </a:rPr>
              <a:t>The health gauge counts up on load</a:t>
            </a:r>
            <a:endParaRPr lang="en-US" sz="1150" dirty="0"/>
          </a:p>
          <a:p>
            <a:pPr marL="342900" indent="-342900">
              <a:spcAft>
                <a:spcPts val="600"/>
              </a:spcAft>
              <a:buSzPct val="100000"/>
              <a:buChar char="•"/>
            </a:pPr>
            <a:r>
              <a:rPr lang="en-US" sz="1150" dirty="0">
                <a:solidFill>
                  <a:srgbClr val="1A1A2E"/>
                </a:solidFill>
                <a:latin typeface="Calibri" pitchFamily="34" charset="0"/>
                <a:ea typeface="Calibri" pitchFamily="34" charset="-122"/>
                <a:cs typeface="Calibri" pitchFamily="34" charset="-120"/>
              </a:rPr>
              <a:t>A pulsing LIVE badge marks the agent log mid-run</a:t>
            </a:r>
            <a:endParaRPr lang="en-US" sz="1150" dirty="0"/>
          </a:p>
        </p:txBody>
      </p:sp>
      <p:sp>
        <p:nvSpPr>
          <p:cNvPr id="17" name="Text 14"/>
          <p:cNvSpPr txBox="1"/>
          <p:nvPr/>
        </p:nvSpPr>
        <p:spPr>
          <a:xfrm>
            <a:off x="6583680" y="4343400"/>
            <a:ext cx="4754880" cy="32004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A modern, cute look</a:t>
            </a:r>
            <a:endParaRPr lang="en-US" sz="1400" dirty="0"/>
          </a:p>
        </p:txBody>
      </p:sp>
      <p:sp>
        <p:nvSpPr>
          <p:cNvPr id="18" name="Text 15"/>
          <p:cNvSpPr txBox="1"/>
          <p:nvPr/>
        </p:nvSpPr>
        <p:spPr>
          <a:xfrm>
            <a:off x="6583680" y="4709160"/>
            <a:ext cx="4846320" cy="1097280"/>
          </a:xfrm>
          <a:prstGeom prst="rect">
            <a:avLst/>
          </a:prstGeom>
          <a:noFill/>
          <a:ln/>
        </p:spPr>
        <p:txBody>
          <a:bodyPr wrap="square" lIns="0" tIns="0" rIns="0" bIns="0" rtlCol="0" anchor="t"/>
          <a:lstStyle/>
          <a:p>
            <a:pPr indent="0" marL="0">
              <a:buNone/>
            </a:pPr>
            <a:r>
              <a:rPr lang="en-US" sz="1150" dirty="0">
                <a:solidFill>
                  <a:srgbClr val="1A1A2E"/>
                </a:solidFill>
                <a:latin typeface="Calibri" pitchFamily="34" charset="0"/>
                <a:ea typeface="Calibri" pitchFamily="34" charset="-122"/>
                <a:cs typeface="Calibri" pitchFamily="34" charset="-120"/>
              </a:rPr>
              <a:t>Baby pink, light green, light purple, and lemon-yellow accents; pill-shaped tabs; rounded cards -- replacing the original dark-navy theme, across both the web UI and the static report.</a:t>
            </a:r>
            <a:endParaRPr lang="en-US" sz="1150" dirty="0"/>
          </a:p>
        </p:txBody>
      </p:sp>
      <p:sp>
        <p:nvSpPr>
          <p:cNvPr id="19" name="Text 16"/>
          <p:cNvSpPr txBox="1"/>
          <p:nvPr/>
        </p:nvSpPr>
        <p:spPr>
          <a:xfrm>
            <a:off x="548640" y="6528816"/>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DevPilot — IBM Bob 2.0 Hackathon</a:t>
            </a:r>
            <a:endParaRPr lang="en-US" sz="1000" dirty="0"/>
          </a:p>
        </p:txBody>
      </p:sp>
      <p:sp>
        <p:nvSpPr>
          <p:cNvPr id="20" name="Text 17"/>
          <p:cNvSpPr txBox="1"/>
          <p:nvPr/>
        </p:nvSpPr>
        <p:spPr>
          <a:xfrm>
            <a:off x="11521440" y="6528816"/>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28016"/>
            <a:ext cx="7315200" cy="274320"/>
          </a:xfrm>
          <a:prstGeom prst="rect">
            <a:avLst/>
          </a:prstGeom>
          <a:noFill/>
          <a:ln/>
        </p:spPr>
        <p:txBody>
          <a:bodyPr wrap="square" lIns="0" tIns="0" rIns="0" bIns="0"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WHY THESE FEATURES EXIST</a:t>
            </a:r>
            <a:endParaRPr lang="en-US" sz="1200" dirty="0"/>
          </a:p>
        </p:txBody>
      </p:sp>
      <p:sp>
        <p:nvSpPr>
          <p:cNvPr id="3" name="Text 1"/>
          <p:cNvSpPr txBox="1"/>
          <p:nvPr/>
        </p:nvSpPr>
        <p:spPr>
          <a:xfrm>
            <a:off x="548640" y="384048"/>
            <a:ext cx="969264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Two hackathon builds, merged honestly</a:t>
            </a:r>
            <a:endParaRPr lang="en-US" sz="3000" dirty="0"/>
          </a:p>
        </p:txBody>
      </p:sp>
      <p:sp>
        <p:nvSpPr>
          <p:cNvPr id="4" name="Shape 2"/>
          <p:cNvSpPr/>
          <p:nvPr/>
        </p:nvSpPr>
        <p:spPr>
          <a:xfrm>
            <a:off x="10268712" y="301752"/>
            <a:ext cx="82296" cy="82296"/>
          </a:xfrm>
          <a:prstGeom prst="ellipse">
            <a:avLst/>
          </a:prstGeom>
          <a:solidFill>
            <a:srgbClr val="CADCFC"/>
          </a:solidFill>
          <a:ln/>
        </p:spPr>
      </p:sp>
      <p:sp>
        <p:nvSpPr>
          <p:cNvPr id="5" name="Shape 3"/>
          <p:cNvSpPr/>
          <p:nvPr/>
        </p:nvSpPr>
        <p:spPr>
          <a:xfrm>
            <a:off x="10460736" y="210312"/>
            <a:ext cx="82296" cy="82296"/>
          </a:xfrm>
          <a:prstGeom prst="ellipse">
            <a:avLst/>
          </a:prstGeom>
          <a:solidFill>
            <a:srgbClr val="CADCFC"/>
          </a:solidFill>
          <a:ln/>
        </p:spPr>
      </p:sp>
      <p:sp>
        <p:nvSpPr>
          <p:cNvPr id="6" name="Shape 4"/>
          <p:cNvSpPr/>
          <p:nvPr/>
        </p:nvSpPr>
        <p:spPr>
          <a:xfrm>
            <a:off x="10661904" y="210312"/>
            <a:ext cx="82296" cy="82296"/>
          </a:xfrm>
          <a:prstGeom prst="ellipse">
            <a:avLst/>
          </a:prstGeom>
          <a:solidFill>
            <a:srgbClr val="CADCFC"/>
          </a:solidFill>
          <a:ln/>
        </p:spPr>
      </p:sp>
      <p:sp>
        <p:nvSpPr>
          <p:cNvPr id="7" name="Shape 5"/>
          <p:cNvSpPr/>
          <p:nvPr/>
        </p:nvSpPr>
        <p:spPr>
          <a:xfrm>
            <a:off x="10853928" y="301752"/>
            <a:ext cx="82296" cy="82296"/>
          </a:xfrm>
          <a:prstGeom prst="ellipse">
            <a:avLst/>
          </a:prstGeom>
          <a:solidFill>
            <a:srgbClr val="CADCFC"/>
          </a:solidFill>
          <a:ln/>
        </p:spPr>
      </p:sp>
      <p:sp>
        <p:nvSpPr>
          <p:cNvPr id="8" name="Shape 6"/>
          <p:cNvSpPr/>
          <p:nvPr/>
        </p:nvSpPr>
        <p:spPr>
          <a:xfrm>
            <a:off x="10497312" y="539496"/>
            <a:ext cx="128016" cy="128016"/>
          </a:xfrm>
          <a:prstGeom prst="ellipse">
            <a:avLst/>
          </a:prstGeom>
          <a:solidFill>
            <a:srgbClr val="F2A93B"/>
          </a:solidFill>
          <a:ln/>
        </p:spPr>
      </p:sp>
      <p:sp>
        <p:nvSpPr>
          <p:cNvPr id="9" name="Text 7"/>
          <p:cNvSpPr txBox="1"/>
          <p:nvPr/>
        </p:nvSpPr>
        <p:spPr>
          <a:xfrm>
            <a:off x="548640" y="1371600"/>
            <a:ext cx="10972800" cy="594360"/>
          </a:xfrm>
          <a:prstGeom prst="rect">
            <a:avLst/>
          </a:prstGeom>
          <a:noFill/>
          <a:ln/>
        </p:spPr>
        <p:txBody>
          <a:bodyPr wrap="square" lIns="0" tIns="0" rIns="0" bIns="0" rtlCol="0" anchor="ctr"/>
          <a:lstStyle/>
          <a:p>
            <a:pPr indent="0" marL="0">
              <a:buNone/>
            </a:pPr>
            <a:r>
              <a:rPr lang="en-US" sz="1300" i="1" dirty="0">
                <a:solidFill>
                  <a:srgbClr val="5B6B8C"/>
                </a:solidFill>
                <a:latin typeface="Calibri" pitchFamily="34" charset="0"/>
                <a:ea typeface="Calibri" pitchFamily="34" charset="-122"/>
                <a:cs typeface="Calibri" pitchFamily="34" charset="-120"/>
              </a:rPr>
              <a:t>This version deliberately pulls in the strongest concepts from an earlier IBM Bob hackathon project (Nexus -- a predictive-reliability platform), adapted to run on data DevPilot actually has, instead of data it doesn't.</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155680" cy="914400"/>
        </p:xfrm>
        <a:graphic>
          <a:graphicData uri="http://schemas.openxmlformats.org/drawingml/2006/table">
            <a:tbl>
              <a:tblPr/>
              <a:tblGrid>
                <a:gridCol w="4389120"/>
                <a:gridCol w="6766560"/>
              </a:tblGrid>
              <a:tr h="53035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Nexus concept (hackathon 1.0)</a:t>
                      </a:r>
                      <a:endParaRPr lang="en-US" sz="1150" dirty="0">
                        <a:latin typeface="Calibri" charset="0"/>
                        <a:ea typeface="Calibri" charset="0"/>
                        <a:cs typeface="Calibri" charset="0"/>
                      </a:endParaRPr>
                    </a:p>
                  </a:txBody>
                  <a:tcPr marL="101600" marR="101600" marT="63500" marB="635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DevPilot's adaptation (this build)</a:t>
                      </a:r>
                      <a:endParaRPr lang="en-US" sz="1150" dirty="0">
                        <a:latin typeface="Calibri" charset="0"/>
                        <a:ea typeface="Calibri" charset="0"/>
                        <a:cs typeface="Calibri" charset="0"/>
                      </a:endParaRPr>
                    </a:p>
                  </a:txBody>
                  <a:tcPr marL="101600" marR="101600" marT="63500" marB="635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1E2761"/>
                    </a:solidFill>
                  </a:tcPr>
                </a:tc>
              </a:tr>
              <a:tr h="530352">
                <a:tc>
                  <a:txBody>
                    <a:bodyPr/>
                    <a:lstStyle/>
                    <a:p>
                      <a:pPr indent="0" marL="0">
                        <a:buNone/>
                      </a:pPr>
                      <a:r>
                        <a:rPr lang="en-US" sz="1080" dirty="0">
                          <a:solidFill>
                            <a:srgbClr val="1A1A2E"/>
                          </a:solidFill>
                          <a:latin typeface="Calibri" pitchFamily="34" charset="0"/>
                          <a:ea typeface="Calibri" pitchFamily="34" charset="-122"/>
                          <a:cs typeface="Calibri" pitchFamily="34" charset="-120"/>
                        </a:rPr>
                        <a:t>Blast-radius simulation</a:t>
                      </a:r>
                      <a:endParaRPr lang="en-US" sz="1080" dirty="0">
                        <a:latin typeface="Calibri" charset="0"/>
                        <a:ea typeface="Calibri" charset="0"/>
                        <a:cs typeface="Calibri" charset="0"/>
                      </a:endParaRPr>
                    </a:p>
                  </a:txBody>
                  <a:tcPr marL="101600" marR="101600" marT="63500" marB="635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c>
                  <a:txBody>
                    <a:bodyPr/>
                    <a:lstStyle/>
                    <a:p>
                      <a:pPr indent="0" marL="0">
                        <a:buNone/>
                      </a:pPr>
                      <a:r>
                        <a:rPr lang="en-US" sz="1080" dirty="0">
                          <a:solidFill>
                            <a:srgbClr val="1A1A2E"/>
                          </a:solidFill>
                          <a:latin typeface="Calibri" pitchFamily="34" charset="0"/>
                          <a:ea typeface="Calibri" pitchFamily="34" charset="-122"/>
                          <a:cs typeface="Calibri" pitchFamily="34" charset="-120"/>
                        </a:rPr>
                        <a:t>Real reverse-dependency graph search over this repo's own imports</a:t>
                      </a:r>
                      <a:endParaRPr lang="en-US" sz="1080" dirty="0">
                        <a:latin typeface="Calibri" charset="0"/>
                        <a:ea typeface="Calibri" charset="0"/>
                        <a:cs typeface="Calibri" charset="0"/>
                      </a:endParaRPr>
                    </a:p>
                  </a:txBody>
                  <a:tcPr marL="101600" marR="101600" marT="63500" marB="635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r>
              <a:tr h="530352">
                <a:tc>
                  <a:txBody>
                    <a:bodyPr/>
                    <a:lstStyle/>
                    <a:p>
                      <a:pPr indent="0" marL="0">
                        <a:buNone/>
                      </a:pPr>
                      <a:r>
                        <a:rPr lang="en-US" sz="1080" dirty="0">
                          <a:solidFill>
                            <a:srgbClr val="1A1A2E"/>
                          </a:solidFill>
                          <a:latin typeface="Calibri" pitchFamily="34" charset="0"/>
                          <a:ea typeface="Calibri" pitchFamily="34" charset="-122"/>
                          <a:cs typeface="Calibri" pitchFamily="34" charset="-120"/>
                        </a:rPr>
                        <a:t>Pre-mortem failure scenarios</a:t>
                      </a:r>
                      <a:endParaRPr lang="en-US" sz="1080" dirty="0">
                        <a:latin typeface="Calibri" charset="0"/>
                        <a:ea typeface="Calibri" charset="0"/>
                        <a:cs typeface="Calibri" charset="0"/>
                      </a:endParaRPr>
                    </a:p>
                  </a:txBody>
                  <a:tcPr marL="101600" marR="101600" marT="63500" marB="635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c>
                  <a:txBody>
                    <a:bodyPr/>
                    <a:lstStyle/>
                    <a:p>
                      <a:pPr indent="0" marL="0">
                        <a:buNone/>
                      </a:pPr>
                      <a:r>
                        <a:rPr lang="en-US" sz="1080" dirty="0">
                          <a:solidFill>
                            <a:srgbClr val="1A1A2E"/>
                          </a:solidFill>
                          <a:latin typeface="Calibri" pitchFamily="34" charset="0"/>
                          <a:ea typeface="Calibri" pitchFamily="34" charset="-122"/>
                          <a:cs typeface="Calibri" pitchFamily="34" charset="-120"/>
                        </a:rPr>
                        <a:t>Timeline built from this run's own severity + blast-radius data</a:t>
                      </a:r>
                      <a:endParaRPr lang="en-US" sz="1080" dirty="0">
                        <a:latin typeface="Calibri" charset="0"/>
                        <a:ea typeface="Calibri" charset="0"/>
                        <a:cs typeface="Calibri" charset="0"/>
                      </a:endParaRPr>
                    </a:p>
                  </a:txBody>
                  <a:tcPr marL="101600" marR="101600" marT="63500" marB="635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r>
              <a:tr h="530352">
                <a:tc>
                  <a:txBody>
                    <a:bodyPr/>
                    <a:lstStyle/>
                    <a:p>
                      <a:pPr indent="0" marL="0">
                        <a:buNone/>
                      </a:pPr>
                      <a:r>
                        <a:rPr lang="en-US" sz="1080" dirty="0">
                          <a:solidFill>
                            <a:srgbClr val="1A1A2E"/>
                          </a:solidFill>
                          <a:latin typeface="Calibri" pitchFamily="34" charset="0"/>
                          <a:ea typeface="Calibri" pitchFamily="34" charset="-122"/>
                          <a:cs typeface="Calibri" pitchFamily="34" charset="-120"/>
                        </a:rPr>
                        <a:t>Executive intelligence (MTTR/MTBF)</a:t>
                      </a:r>
                      <a:endParaRPr lang="en-US" sz="1080" dirty="0">
                        <a:latin typeface="Calibri" charset="0"/>
                        <a:ea typeface="Calibri" charset="0"/>
                        <a:cs typeface="Calibri" charset="0"/>
                      </a:endParaRPr>
                    </a:p>
                  </a:txBody>
                  <a:tcPr marL="101600" marR="101600" marT="63500" marB="635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c>
                  <a:txBody>
                    <a:bodyPr/>
                    <a:lstStyle/>
                    <a:p>
                      <a:pPr indent="0" marL="0">
                        <a:buNone/>
                      </a:pPr>
                      <a:r>
                        <a:rPr lang="en-US" sz="1080" dirty="0">
                          <a:solidFill>
                            <a:srgbClr val="1A1A2E"/>
                          </a:solidFill>
                          <a:latin typeface="Calibri" pitchFamily="34" charset="0"/>
                          <a:ea typeface="Calibri" pitchFamily="34" charset="-122"/>
                          <a:cs typeface="Calibri" pitchFamily="34" charset="-120"/>
                        </a:rPr>
                        <a:t>Health score + risk portfolio -- honest that MTTR/MTBF need real incident telemetry we don't have</a:t>
                      </a:r>
                      <a:endParaRPr lang="en-US" sz="1080" dirty="0">
                        <a:latin typeface="Calibri" charset="0"/>
                        <a:ea typeface="Calibri" charset="0"/>
                        <a:cs typeface="Calibri" charset="0"/>
                      </a:endParaRPr>
                    </a:p>
                  </a:txBody>
                  <a:tcPr marL="101600" marR="101600" marT="63500" marB="635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r>
              <a:tr h="530352">
                <a:tc>
                  <a:txBody>
                    <a:bodyPr/>
                    <a:lstStyle/>
                    <a:p>
                      <a:pPr indent="0" marL="0">
                        <a:buNone/>
                      </a:pPr>
                      <a:r>
                        <a:rPr lang="en-US" sz="1080" dirty="0">
                          <a:solidFill>
                            <a:srgbClr val="1A1A2E"/>
                          </a:solidFill>
                          <a:latin typeface="Calibri" pitchFamily="34" charset="0"/>
                          <a:ea typeface="Calibri" pitchFamily="34" charset="-122"/>
                          <a:cs typeface="Calibri" pitchFamily="34" charset="-120"/>
                        </a:rPr>
                        <a:t>Engineering historian / pattern library</a:t>
                      </a:r>
                      <a:endParaRPr lang="en-US" sz="1080" dirty="0">
                        <a:latin typeface="Calibri" charset="0"/>
                        <a:ea typeface="Calibri" charset="0"/>
                        <a:cs typeface="Calibri" charset="0"/>
                      </a:endParaRPr>
                    </a:p>
                  </a:txBody>
                  <a:tcPr marL="101600" marR="101600" marT="63500" marB="635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c>
                  <a:txBody>
                    <a:bodyPr/>
                    <a:lstStyle/>
                    <a:p>
                      <a:pPr indent="0" marL="0">
                        <a:buNone/>
                      </a:pPr>
                      <a:r>
                        <a:rPr lang="en-US" sz="1080" dirty="0">
                          <a:solidFill>
                            <a:srgbClr val="1A1A2E"/>
                          </a:solidFill>
                          <a:latin typeface="Calibri" pitchFamily="34" charset="0"/>
                          <a:ea typeface="Calibri" pitchFamily="34" charset="-122"/>
                          <a:cs typeface="Calibri" pitchFamily="34" charset="-120"/>
                        </a:rPr>
                        <a:t>Local per-project run history: score trend + recurring-rule detection</a:t>
                      </a:r>
                      <a:endParaRPr lang="en-US" sz="1080" dirty="0">
                        <a:latin typeface="Calibri" charset="0"/>
                        <a:ea typeface="Calibri" charset="0"/>
                        <a:cs typeface="Calibri" charset="0"/>
                      </a:endParaRPr>
                    </a:p>
                  </a:txBody>
                  <a:tcPr marL="101600" marR="101600" marT="63500" marB="635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r>
              <a:tr h="530352">
                <a:tc>
                  <a:txBody>
                    <a:bodyPr/>
                    <a:lstStyle/>
                    <a:p>
                      <a:pPr indent="0" marL="0">
                        <a:buNone/>
                      </a:pPr>
                      <a:r>
                        <a:rPr lang="en-US" sz="1080" dirty="0">
                          <a:solidFill>
                            <a:srgbClr val="1A1A2E"/>
                          </a:solidFill>
                          <a:latin typeface="Calibri" pitchFamily="34" charset="0"/>
                          <a:ea typeface="Calibri" pitchFamily="34" charset="-122"/>
                          <a:cs typeface="Calibri" pitchFamily="34" charset="-120"/>
                        </a:rPr>
                        <a:t>GitHub dependency graph</a:t>
                      </a:r>
                      <a:endParaRPr lang="en-US" sz="1080" dirty="0">
                        <a:latin typeface="Calibri" charset="0"/>
                        <a:ea typeface="Calibri" charset="0"/>
                        <a:cs typeface="Calibri" charset="0"/>
                      </a:endParaRPr>
                    </a:p>
                  </a:txBody>
                  <a:tcPr marL="101600" marR="101600" marT="63500" marB="635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c>
                  <a:txBody>
                    <a:bodyPr/>
                    <a:lstStyle/>
                    <a:p>
                      <a:pPr indent="0" marL="0">
                        <a:buNone/>
                      </a:pPr>
                      <a:r>
                        <a:rPr lang="en-US" sz="1080" dirty="0">
                          <a:solidFill>
                            <a:srgbClr val="1A1A2E"/>
                          </a:solidFill>
                          <a:latin typeface="Calibri" pitchFamily="34" charset="0"/>
                          <a:ea typeface="Calibri" pitchFamily="34" charset="-122"/>
                          <a:cs typeface="Calibri" pitchFamily="34" charset="-120"/>
                        </a:rPr>
                        <a:t>Full repo-wide import graph, rendered as a chord diagram</a:t>
                      </a:r>
                      <a:endParaRPr lang="en-US" sz="1080" dirty="0">
                        <a:latin typeface="Calibri" charset="0"/>
                        <a:ea typeface="Calibri" charset="0"/>
                        <a:cs typeface="Calibri" charset="0"/>
                      </a:endParaRPr>
                    </a:p>
                  </a:txBody>
                  <a:tcPr marL="101600" marR="101600" marT="63500" marB="635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r>
              <a:tr h="530352">
                <a:tc>
                  <a:txBody>
                    <a:bodyPr/>
                    <a:lstStyle/>
                    <a:p>
                      <a:pPr indent="0" marL="0">
                        <a:buNone/>
                      </a:pPr>
                      <a:r>
                        <a:rPr lang="en-US" sz="1080" dirty="0">
                          <a:solidFill>
                            <a:srgbClr val="1A1A2E"/>
                          </a:solidFill>
                          <a:latin typeface="Calibri" pitchFamily="34" charset="0"/>
                          <a:ea typeface="Calibri" pitchFamily="34" charset="-122"/>
                          <a:cs typeface="Calibri" pitchFamily="34" charset="-120"/>
                        </a:rPr>
                        <a:t>Cinematic demo mode</a:t>
                      </a:r>
                      <a:endParaRPr lang="en-US" sz="1080" dirty="0">
                        <a:latin typeface="Calibri" charset="0"/>
                        <a:ea typeface="Calibri" charset="0"/>
                        <a:cs typeface="Calibri" charset="0"/>
                      </a:endParaRPr>
                    </a:p>
                  </a:txBody>
                  <a:tcPr marL="101600" marR="101600" marT="63500" marB="635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c>
                  <a:txBody>
                    <a:bodyPr/>
                    <a:lstStyle/>
                    <a:p>
                      <a:pPr indent="0" marL="0">
                        <a:buNone/>
                      </a:pPr>
                      <a:r>
                        <a:rPr lang="en-US" sz="1080" dirty="0">
                          <a:solidFill>
                            <a:srgbClr val="1A1A2E"/>
                          </a:solidFill>
                          <a:latin typeface="Calibri" pitchFamily="34" charset="0"/>
                          <a:ea typeface="Calibri" pitchFamily="34" charset="-122"/>
                          <a:cs typeface="Calibri" pitchFamily="34" charset="-120"/>
                        </a:rPr>
                        <a:t>Fade-in panels, count-up gauge, pulsing live badge, dedicated demo-video tab</a:t>
                      </a:r>
                      <a:endParaRPr lang="en-US" sz="1080" dirty="0">
                        <a:latin typeface="Calibri" charset="0"/>
                        <a:ea typeface="Calibri" charset="0"/>
                        <a:cs typeface="Calibri" charset="0"/>
                      </a:endParaRPr>
                    </a:p>
                  </a:txBody>
                  <a:tcPr marL="101600" marR="101600" marT="63500" marB="635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r>
              <a:tr h="530352">
                <a:tc>
                  <a:txBody>
                    <a:bodyPr/>
                    <a:lstStyle/>
                    <a:p>
                      <a:pPr indent="0" marL="0">
                        <a:buNone/>
                      </a:pPr>
                      <a:r>
                        <a:rPr lang="en-US" sz="1080" dirty="0">
                          <a:solidFill>
                            <a:srgbClr val="1A1A2E"/>
                          </a:solidFill>
                          <a:latin typeface="Calibri" pitchFamily="34" charset="0"/>
                          <a:ea typeface="Calibri" pitchFamily="34" charset="-122"/>
                          <a:cs typeface="Calibri" pitchFamily="34" charset="-120"/>
                        </a:rPr>
                        <a:t>Incident-DNA vector matching (ChromaDB)</a:t>
                      </a:r>
                      <a:endParaRPr lang="en-US" sz="1080" dirty="0">
                        <a:latin typeface="Calibri" charset="0"/>
                        <a:ea typeface="Calibri" charset="0"/>
                        <a:cs typeface="Calibri" charset="0"/>
                      </a:endParaRPr>
                    </a:p>
                  </a:txBody>
                  <a:tcPr marL="101600" marR="101600" marT="63500" marB="635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c>
                  <a:txBody>
                    <a:bodyPr/>
                    <a:lstStyle/>
                    <a:p>
                      <a:pPr indent="0" marL="0">
                        <a:buNone/>
                      </a:pPr>
                      <a:r>
                        <a:rPr lang="en-US" sz="1080" i="1" dirty="0">
                          <a:solidFill>
                            <a:srgbClr val="5B6B8C"/>
                          </a:solidFill>
                          <a:latin typeface="Calibri" pitchFamily="34" charset="0"/>
                          <a:ea typeface="Calibri" pitchFamily="34" charset="-122"/>
                          <a:cs typeface="Calibri" pitchFamily="34" charset="-120"/>
                        </a:rPr>
                        <a:t>Not ported -- needs real historical incident data; faking it would mean inventing numbers</a:t>
                      </a:r>
                      <a:endParaRPr lang="en-US" sz="1080" dirty="0">
                        <a:latin typeface="Calibri" charset="0"/>
                        <a:ea typeface="Calibri" charset="0"/>
                        <a:cs typeface="Calibri" charset="0"/>
                      </a:endParaRPr>
                    </a:p>
                  </a:txBody>
                  <a:tcPr marL="101600" marR="101600" marT="63500" marB="635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r>
            </a:tbl>
          </a:graphicData>
        </a:graphic>
      </p:graphicFrame>
      <p:sp>
        <p:nvSpPr>
          <p:cNvPr id="11" name="Text 8"/>
          <p:cNvSpPr txBox="1"/>
          <p:nvPr/>
        </p:nvSpPr>
        <p:spPr>
          <a:xfrm>
            <a:off x="548640" y="6528816"/>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DevPilot — IBM Bob 2.0 Hackathon</a:t>
            </a:r>
            <a:endParaRPr lang="en-US" sz="1000" dirty="0"/>
          </a:p>
        </p:txBody>
      </p:sp>
      <p:sp>
        <p:nvSpPr>
          <p:cNvPr id="12" name="Text 9"/>
          <p:cNvSpPr txBox="1"/>
          <p:nvPr/>
        </p:nvSpPr>
        <p:spPr>
          <a:xfrm>
            <a:off x="11521440" y="6528816"/>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28016"/>
            <a:ext cx="7315200" cy="274320"/>
          </a:xfrm>
          <a:prstGeom prst="rect">
            <a:avLst/>
          </a:prstGeom>
          <a:noFill/>
          <a:ln/>
        </p:spPr>
        <p:txBody>
          <a:bodyPr wrap="square" lIns="0" tIns="0" rIns="0" bIns="0"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BUSINESS VALUE</a:t>
            </a:r>
            <a:endParaRPr lang="en-US" sz="1200" dirty="0"/>
          </a:p>
        </p:txBody>
      </p:sp>
      <p:sp>
        <p:nvSpPr>
          <p:cNvPr id="3" name="Text 1"/>
          <p:cNvSpPr txBox="1"/>
          <p:nvPr/>
        </p:nvSpPr>
        <p:spPr>
          <a:xfrm>
            <a:off x="548640" y="384048"/>
            <a:ext cx="969264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From reactive and manual to automatic and pre-merge</a:t>
            </a:r>
            <a:endParaRPr lang="en-US" sz="3000" dirty="0"/>
          </a:p>
        </p:txBody>
      </p:sp>
      <p:sp>
        <p:nvSpPr>
          <p:cNvPr id="4" name="Shape 2"/>
          <p:cNvSpPr/>
          <p:nvPr/>
        </p:nvSpPr>
        <p:spPr>
          <a:xfrm>
            <a:off x="10268712" y="301752"/>
            <a:ext cx="82296" cy="82296"/>
          </a:xfrm>
          <a:prstGeom prst="ellipse">
            <a:avLst/>
          </a:prstGeom>
          <a:solidFill>
            <a:srgbClr val="CADCFC"/>
          </a:solidFill>
          <a:ln/>
        </p:spPr>
      </p:sp>
      <p:sp>
        <p:nvSpPr>
          <p:cNvPr id="5" name="Shape 3"/>
          <p:cNvSpPr/>
          <p:nvPr/>
        </p:nvSpPr>
        <p:spPr>
          <a:xfrm>
            <a:off x="10460736" y="210312"/>
            <a:ext cx="82296" cy="82296"/>
          </a:xfrm>
          <a:prstGeom prst="ellipse">
            <a:avLst/>
          </a:prstGeom>
          <a:solidFill>
            <a:srgbClr val="CADCFC"/>
          </a:solidFill>
          <a:ln/>
        </p:spPr>
      </p:sp>
      <p:sp>
        <p:nvSpPr>
          <p:cNvPr id="6" name="Shape 4"/>
          <p:cNvSpPr/>
          <p:nvPr/>
        </p:nvSpPr>
        <p:spPr>
          <a:xfrm>
            <a:off x="10661904" y="210312"/>
            <a:ext cx="82296" cy="82296"/>
          </a:xfrm>
          <a:prstGeom prst="ellipse">
            <a:avLst/>
          </a:prstGeom>
          <a:solidFill>
            <a:srgbClr val="CADCFC"/>
          </a:solidFill>
          <a:ln/>
        </p:spPr>
      </p:sp>
      <p:sp>
        <p:nvSpPr>
          <p:cNvPr id="7" name="Shape 5"/>
          <p:cNvSpPr/>
          <p:nvPr/>
        </p:nvSpPr>
        <p:spPr>
          <a:xfrm>
            <a:off x="10853928" y="301752"/>
            <a:ext cx="82296" cy="82296"/>
          </a:xfrm>
          <a:prstGeom prst="ellipse">
            <a:avLst/>
          </a:prstGeom>
          <a:solidFill>
            <a:srgbClr val="CADCFC"/>
          </a:solidFill>
          <a:ln/>
        </p:spPr>
      </p:sp>
      <p:sp>
        <p:nvSpPr>
          <p:cNvPr id="8" name="Shape 6"/>
          <p:cNvSpPr/>
          <p:nvPr/>
        </p:nvSpPr>
        <p:spPr>
          <a:xfrm>
            <a:off x="10497312" y="539496"/>
            <a:ext cx="128016" cy="128016"/>
          </a:xfrm>
          <a:prstGeom prst="ellipse">
            <a:avLst/>
          </a:prstGeom>
          <a:solidFill>
            <a:srgbClr val="F2A93B"/>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0789920" cy="914400"/>
        </p:xfrm>
        <a:graphic>
          <a:graphicData uri="http://schemas.openxmlformats.org/drawingml/2006/table">
            <a:tbl>
              <a:tblPr/>
              <a:tblGrid>
                <a:gridCol w="2377440"/>
                <a:gridCol w="4206240"/>
                <a:gridCol w="4206240"/>
              </a:tblGrid>
              <a:tr h="62179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Workflow step</a:t>
                      </a:r>
                      <a:endParaRPr lang="en-US" sz="1250" dirty="0">
                        <a:latin typeface="Calibri" charset="0"/>
                        <a:ea typeface="Calibri" charset="0"/>
                        <a:cs typeface="Calibri" charset="0"/>
                      </a:endParaRPr>
                    </a:p>
                  </a:txBody>
                  <a:tcPr marL="127000" marR="127000" marT="76200" marB="762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Manual effort today</a:t>
                      </a:r>
                      <a:endParaRPr lang="en-US" sz="1250" dirty="0">
                        <a:latin typeface="Calibri" charset="0"/>
                        <a:ea typeface="Calibri" charset="0"/>
                        <a:cs typeface="Calibri" charset="0"/>
                      </a:endParaRPr>
                    </a:p>
                  </a:txBody>
                  <a:tcPr marL="127000" marR="127000" marT="76200" marB="762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With DevPilot</a:t>
                      </a:r>
                      <a:endParaRPr lang="en-US" sz="1250" dirty="0">
                        <a:latin typeface="Calibri" charset="0"/>
                        <a:ea typeface="Calibri" charset="0"/>
                        <a:cs typeface="Calibri" charset="0"/>
                      </a:endParaRPr>
                    </a:p>
                  </a:txBody>
                  <a:tcPr marL="127000" marR="127000" marT="76200" marB="762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1E2761"/>
                    </a:solidFill>
                  </a:tcPr>
                </a:tc>
              </a:tr>
              <a:tr h="621792">
                <a:tc>
                  <a:txBody>
                    <a:bodyPr/>
                    <a:lstStyle/>
                    <a:p>
                      <a:pPr indent="0" marL="0">
                        <a:buNone/>
                      </a:pPr>
                      <a:r>
                        <a:rPr lang="en-US" sz="1200" b="1" dirty="0">
                          <a:solidFill>
                            <a:srgbClr val="1A1A2E"/>
                          </a:solidFill>
                          <a:latin typeface="Calibri" pitchFamily="34" charset="0"/>
                          <a:ea typeface="Calibri" pitchFamily="34" charset="-122"/>
                          <a:cs typeface="Calibri" pitchFamily="34" charset="-120"/>
                        </a:rPr>
                        <a:t>Onboarding</a:t>
                      </a:r>
                      <a:endParaRPr lang="en-US" sz="1200" dirty="0">
                        <a:latin typeface="Calibri" charset="0"/>
                        <a:ea typeface="Calibri" charset="0"/>
                        <a:cs typeface="Calibri" charset="0"/>
                      </a:endParaRPr>
                    </a:p>
                  </a:txBody>
                  <a:tcPr marL="127000" marR="127000" marT="76200" marB="762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0.5–1 day reading code unguided</a:t>
                      </a:r>
                      <a:endParaRPr lang="en-US" sz="1200" dirty="0">
                        <a:latin typeface="Calibri" charset="0"/>
                        <a:ea typeface="Calibri" charset="0"/>
                        <a:cs typeface="Calibri" charset="0"/>
                      </a:endParaRPr>
                    </a:p>
                  </a:txBody>
                  <a:tcPr marL="127000" marR="127000" marT="76200" marB="762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Architecture map + starter tasks in seconds</a:t>
                      </a:r>
                      <a:endParaRPr lang="en-US" sz="1200" dirty="0">
                        <a:latin typeface="Calibri" charset="0"/>
                        <a:ea typeface="Calibri" charset="0"/>
                        <a:cs typeface="Calibri" charset="0"/>
                      </a:endParaRPr>
                    </a:p>
                  </a:txBody>
                  <a:tcPr marL="127000" marR="127000" marT="76200" marB="762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r>
              <a:tr h="621792">
                <a:tc>
                  <a:txBody>
                    <a:bodyPr/>
                    <a:lstStyle/>
                    <a:p>
                      <a:pPr indent="0" marL="0">
                        <a:buNone/>
                      </a:pPr>
                      <a:r>
                        <a:rPr lang="en-US" sz="1200" b="1" dirty="0">
                          <a:solidFill>
                            <a:srgbClr val="1A1A2E"/>
                          </a:solidFill>
                          <a:latin typeface="Calibri" pitchFamily="34" charset="0"/>
                          <a:ea typeface="Calibri" pitchFamily="34" charset="-122"/>
                          <a:cs typeface="Calibri" pitchFamily="34" charset="-120"/>
                        </a:rPr>
                        <a:t>Code review</a:t>
                      </a:r>
                      <a:endParaRPr lang="en-US" sz="1200" dirty="0">
                        <a:latin typeface="Calibri" charset="0"/>
                        <a:ea typeface="Calibri" charset="0"/>
                        <a:cs typeface="Calibri" charset="0"/>
                      </a:endParaRPr>
                    </a:p>
                  </a:txBody>
                  <a:tcPr marL="127000" marR="127000" marT="76200" marB="762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Re-derive risk checklist by eye, per PR</a:t>
                      </a:r>
                      <a:endParaRPr lang="en-US" sz="1200" dirty="0">
                        <a:latin typeface="Calibri" charset="0"/>
                        <a:ea typeface="Calibri" charset="0"/>
                        <a:cs typeface="Calibri" charset="0"/>
                      </a:endParaRPr>
                    </a:p>
                  </a:txBody>
                  <a:tcPr marL="127000" marR="127000" marT="76200" marB="762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Severity-ranked, confirmed-vs-flagged findings</a:t>
                      </a:r>
                      <a:endParaRPr lang="en-US" sz="1200" dirty="0">
                        <a:latin typeface="Calibri" charset="0"/>
                        <a:ea typeface="Calibri" charset="0"/>
                        <a:cs typeface="Calibri" charset="0"/>
                      </a:endParaRPr>
                    </a:p>
                  </a:txBody>
                  <a:tcPr marL="127000" marR="127000" marT="76200" marB="762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r>
              <a:tr h="621792">
                <a:tc>
                  <a:txBody>
                    <a:bodyPr/>
                    <a:lstStyle/>
                    <a:p>
                      <a:pPr indent="0" marL="0">
                        <a:buNone/>
                      </a:pPr>
                      <a:r>
                        <a:rPr lang="en-US" sz="1200" b="1" dirty="0">
                          <a:solidFill>
                            <a:srgbClr val="1A1A2E"/>
                          </a:solidFill>
                          <a:latin typeface="Calibri" pitchFamily="34" charset="0"/>
                          <a:ea typeface="Calibri" pitchFamily="34" charset="-122"/>
                          <a:cs typeface="Calibri" pitchFamily="34" charset="-120"/>
                        </a:rPr>
                        <a:t>Test coverage</a:t>
                      </a:r>
                      <a:endParaRPr lang="en-US" sz="1200" dirty="0">
                        <a:latin typeface="Calibri" charset="0"/>
                        <a:ea typeface="Calibri" charset="0"/>
                        <a:cs typeface="Calibri" charset="0"/>
                      </a:endParaRPr>
                    </a:p>
                  </a:txBody>
                  <a:tcPr marL="127000" marR="127000" marT="76200" marB="762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Discovered reactively, often post-incident</a:t>
                      </a:r>
                      <a:endParaRPr lang="en-US" sz="1200" dirty="0">
                        <a:latin typeface="Calibri" charset="0"/>
                        <a:ea typeface="Calibri" charset="0"/>
                        <a:cs typeface="Calibri" charset="0"/>
                      </a:endParaRPr>
                    </a:p>
                  </a:txBody>
                  <a:tcPr marL="127000" marR="127000" marT="76200" marB="762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Coverage gap + generated tests pre-merge</a:t>
                      </a:r>
                      <a:endParaRPr lang="en-US" sz="1200" dirty="0">
                        <a:latin typeface="Calibri" charset="0"/>
                        <a:ea typeface="Calibri" charset="0"/>
                        <a:cs typeface="Calibri" charset="0"/>
                      </a:endParaRPr>
                    </a:p>
                  </a:txBody>
                  <a:tcPr marL="127000" marR="127000" marT="76200" marB="762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r>
              <a:tr h="621792">
                <a:tc>
                  <a:txBody>
                    <a:bodyPr/>
                    <a:lstStyle/>
                    <a:p>
                      <a:pPr indent="0" marL="0">
                        <a:buNone/>
                      </a:pPr>
                      <a:r>
                        <a:rPr lang="en-US" sz="1200" b="1" dirty="0">
                          <a:solidFill>
                            <a:srgbClr val="1A1A2E"/>
                          </a:solidFill>
                          <a:latin typeface="Calibri" pitchFamily="34" charset="0"/>
                          <a:ea typeface="Calibri" pitchFamily="34" charset="-122"/>
                          <a:cs typeface="Calibri" pitchFamily="34" charset="-120"/>
                        </a:rPr>
                        <a:t>Release sign-off</a:t>
                      </a:r>
                      <a:endParaRPr lang="en-US" sz="1200" dirty="0">
                        <a:latin typeface="Calibri" charset="0"/>
                        <a:ea typeface="Calibri" charset="0"/>
                        <a:cs typeface="Calibri" charset="0"/>
                      </a:endParaRPr>
                    </a:p>
                  </a:txBody>
                  <a:tcPr marL="127000" marR="127000" marT="76200" marB="762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Manual checklist, easy to skip a step</a:t>
                      </a:r>
                      <a:endParaRPr lang="en-US" sz="1200" dirty="0">
                        <a:latin typeface="Calibri" charset="0"/>
                        <a:ea typeface="Calibri" charset="0"/>
                        <a:cs typeface="Calibri" charset="0"/>
                      </a:endParaRPr>
                    </a:p>
                  </a:txBody>
                  <a:tcPr marL="127000" marR="127000" marT="76200" marB="762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Automated GO/NO-GO with cited reasons</a:t>
                      </a:r>
                      <a:endParaRPr lang="en-US" sz="1200" dirty="0">
                        <a:latin typeface="Calibri" charset="0"/>
                        <a:ea typeface="Calibri" charset="0"/>
                        <a:cs typeface="Calibri" charset="0"/>
                      </a:endParaRPr>
                    </a:p>
                  </a:txBody>
                  <a:tcPr marL="127000" marR="127000" marT="76200" marB="762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r>
              <a:tr h="621792">
                <a:tc>
                  <a:txBody>
                    <a:bodyPr/>
                    <a:lstStyle/>
                    <a:p>
                      <a:pPr indent="0" marL="0">
                        <a:buNone/>
                      </a:pPr>
                      <a:r>
                        <a:rPr lang="en-US" sz="1200" b="1" dirty="0">
                          <a:solidFill>
                            <a:srgbClr val="1A1A2E"/>
                          </a:solidFill>
                          <a:latin typeface="Calibri" pitchFamily="34" charset="0"/>
                          <a:ea typeface="Calibri" pitchFamily="34" charset="-122"/>
                          <a:cs typeface="Calibri" pitchFamily="34" charset="-120"/>
                        </a:rPr>
                        <a:t>Modernization</a:t>
                      </a:r>
                      <a:endParaRPr lang="en-US" sz="1200" dirty="0">
                        <a:latin typeface="Calibri" charset="0"/>
                        <a:ea typeface="Calibri" charset="0"/>
                        <a:cs typeface="Calibri" charset="0"/>
                      </a:endParaRPr>
                    </a:p>
                  </a:txBody>
                  <a:tcPr marL="127000" marR="127000" marT="76200" marB="762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Ad-hoc, rarely prioritized</a:t>
                      </a:r>
                      <a:endParaRPr lang="en-US" sz="1200" dirty="0">
                        <a:latin typeface="Calibri" charset="0"/>
                        <a:ea typeface="Calibri" charset="0"/>
                        <a:cs typeface="Calibri" charset="0"/>
                      </a:endParaRPr>
                    </a:p>
                  </a:txBody>
                  <a:tcPr marL="127000" marR="127000" marT="76200" marB="762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c>
                  <a:txBody>
                    <a:bodyPr/>
                    <a:lstStyle/>
                    <a:p>
                      <a:pPr indent="0" marL="0">
                        <a:buNone/>
                      </a:pPr>
                      <a:r>
                        <a:rPr lang="en-US" sz="1200" dirty="0">
                          <a:solidFill>
                            <a:srgbClr val="1A1A2E"/>
                          </a:solidFill>
                          <a:latin typeface="Calibri" pitchFamily="34" charset="0"/>
                          <a:ea typeface="Calibri" pitchFamily="34" charset="-122"/>
                          <a:cs typeface="Calibri" pitchFamily="34" charset="-120"/>
                        </a:rPr>
                        <a:t>Concrete, file-level triage list</a:t>
                      </a:r>
                      <a:endParaRPr lang="en-US" sz="1200" dirty="0">
                        <a:latin typeface="Calibri" charset="0"/>
                        <a:ea typeface="Calibri" charset="0"/>
                        <a:cs typeface="Calibri" charset="0"/>
                      </a:endParaRPr>
                    </a:p>
                  </a:txBody>
                  <a:tcPr marL="127000" marR="127000" marT="76200" marB="76200" anchor="ctr">
                    <a:lnL w="12700" cap="flat" cmpd="sng" algn="ctr">
                      <a:solidFill>
                        <a:srgbClr val="E1E6F0"/>
                      </a:solidFill>
                      <a:prstDash val="solid"/>
                      <a:round/>
                      <a:headEnd type="none" w="med" len="med"/>
                      <a:tailEnd type="none" w="med" len="med"/>
                    </a:lnL>
                    <a:lnR w="12700" cap="flat" cmpd="sng" algn="ctr">
                      <a:solidFill>
                        <a:srgbClr val="E1E6F0"/>
                      </a:solidFill>
                      <a:prstDash val="solid"/>
                      <a:round/>
                      <a:headEnd type="none" w="med" len="med"/>
                      <a:tailEnd type="none" w="med" len="med"/>
                    </a:lnR>
                    <a:lnT w="12700" cap="flat" cmpd="sng" algn="ctr">
                      <a:solidFill>
                        <a:srgbClr val="E1E6F0"/>
                      </a:solidFill>
                      <a:prstDash val="solid"/>
                      <a:round/>
                      <a:headEnd type="none" w="med" len="med"/>
                      <a:tailEnd type="none" w="med" len="med"/>
                    </a:lnT>
                    <a:lnB w="12700" cap="flat" cmpd="sng" algn="ctr">
                      <a:solidFill>
                        <a:srgbClr val="E1E6F0"/>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548640" y="5532120"/>
            <a:ext cx="10789920" cy="548640"/>
          </a:xfrm>
          <a:prstGeom prst="rect">
            <a:avLst/>
          </a:prstGeom>
          <a:noFill/>
          <a:ln/>
        </p:spPr>
        <p:txBody>
          <a:bodyPr wrap="square" lIns="0" tIns="0" rIns="0" bIns="0" rtlCol="0" anchor="ctr"/>
          <a:lstStyle/>
          <a:p>
            <a:pPr indent="0" marL="0">
              <a:buNone/>
            </a:pPr>
            <a:r>
              <a:rPr lang="en-US" sz="1250" i="1" dirty="0">
                <a:solidFill>
                  <a:srgbClr val="5B6B8C"/>
                </a:solidFill>
                <a:latin typeface="Calibri" pitchFamily="34" charset="0"/>
                <a:ea typeface="Calibri" pitchFamily="34" charset="-122"/>
                <a:cs typeface="Calibri" pitchFamily="34" charset="-120"/>
              </a:rPr>
              <a:t>6.7h estimated saved on TaskFlow API · 17.1h on microblog -- illustrative, clearly-labeled estimates, not an audited metric. Every finding also lands in a role-scoped view: New Developer, Reviewer, Tester, Release Manager.</a:t>
            </a:r>
            <a:endParaRPr lang="en-US" sz="1250" dirty="0"/>
          </a:p>
        </p:txBody>
      </p:sp>
      <p:sp>
        <p:nvSpPr>
          <p:cNvPr id="11" name="Text 8"/>
          <p:cNvSpPr txBox="1"/>
          <p:nvPr/>
        </p:nvSpPr>
        <p:spPr>
          <a:xfrm>
            <a:off x="548640" y="6528816"/>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DevPilot — IBM Bob 2.0 Hackathon</a:t>
            </a:r>
            <a:endParaRPr lang="en-US" sz="1000" dirty="0"/>
          </a:p>
        </p:txBody>
      </p:sp>
      <p:sp>
        <p:nvSpPr>
          <p:cNvPr id="12" name="Text 9"/>
          <p:cNvSpPr txBox="1"/>
          <p:nvPr/>
        </p:nvSpPr>
        <p:spPr>
          <a:xfrm>
            <a:off x="11521440" y="6528816"/>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28016"/>
            <a:ext cx="7315200" cy="274320"/>
          </a:xfrm>
          <a:prstGeom prst="rect">
            <a:avLst/>
          </a:prstGeom>
          <a:noFill/>
          <a:ln/>
        </p:spPr>
        <p:txBody>
          <a:bodyPr wrap="square" lIns="0" tIns="0" rIns="0" bIns="0"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WHY THIS IS AN IBM BOB 2.0 PROJECT</a:t>
            </a:r>
            <a:endParaRPr lang="en-US" sz="1200" dirty="0"/>
          </a:p>
        </p:txBody>
      </p:sp>
      <p:sp>
        <p:nvSpPr>
          <p:cNvPr id="3" name="Text 1"/>
          <p:cNvSpPr txBox="1"/>
          <p:nvPr/>
        </p:nvSpPr>
        <p:spPr>
          <a:xfrm>
            <a:off x="548640" y="384048"/>
            <a:ext cx="969264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Every core capability, put to work on a real pipeline</a:t>
            </a:r>
            <a:endParaRPr lang="en-US" sz="3000" dirty="0"/>
          </a:p>
        </p:txBody>
      </p:sp>
      <p:sp>
        <p:nvSpPr>
          <p:cNvPr id="4" name="Shape 2"/>
          <p:cNvSpPr/>
          <p:nvPr/>
        </p:nvSpPr>
        <p:spPr>
          <a:xfrm>
            <a:off x="10268712" y="301752"/>
            <a:ext cx="82296" cy="82296"/>
          </a:xfrm>
          <a:prstGeom prst="ellipse">
            <a:avLst/>
          </a:prstGeom>
          <a:solidFill>
            <a:srgbClr val="CADCFC"/>
          </a:solidFill>
          <a:ln/>
        </p:spPr>
      </p:sp>
      <p:sp>
        <p:nvSpPr>
          <p:cNvPr id="5" name="Shape 3"/>
          <p:cNvSpPr/>
          <p:nvPr/>
        </p:nvSpPr>
        <p:spPr>
          <a:xfrm>
            <a:off x="10460736" y="210312"/>
            <a:ext cx="82296" cy="82296"/>
          </a:xfrm>
          <a:prstGeom prst="ellipse">
            <a:avLst/>
          </a:prstGeom>
          <a:solidFill>
            <a:srgbClr val="CADCFC"/>
          </a:solidFill>
          <a:ln/>
        </p:spPr>
      </p:sp>
      <p:sp>
        <p:nvSpPr>
          <p:cNvPr id="6" name="Shape 4"/>
          <p:cNvSpPr/>
          <p:nvPr/>
        </p:nvSpPr>
        <p:spPr>
          <a:xfrm>
            <a:off x="10661904" y="210312"/>
            <a:ext cx="82296" cy="82296"/>
          </a:xfrm>
          <a:prstGeom prst="ellipse">
            <a:avLst/>
          </a:prstGeom>
          <a:solidFill>
            <a:srgbClr val="CADCFC"/>
          </a:solidFill>
          <a:ln/>
        </p:spPr>
      </p:sp>
      <p:sp>
        <p:nvSpPr>
          <p:cNvPr id="7" name="Shape 5"/>
          <p:cNvSpPr/>
          <p:nvPr/>
        </p:nvSpPr>
        <p:spPr>
          <a:xfrm>
            <a:off x="10853928" y="301752"/>
            <a:ext cx="82296" cy="82296"/>
          </a:xfrm>
          <a:prstGeom prst="ellipse">
            <a:avLst/>
          </a:prstGeom>
          <a:solidFill>
            <a:srgbClr val="CADCFC"/>
          </a:solidFill>
          <a:ln/>
        </p:spPr>
      </p:sp>
      <p:sp>
        <p:nvSpPr>
          <p:cNvPr id="8" name="Shape 6"/>
          <p:cNvSpPr/>
          <p:nvPr/>
        </p:nvSpPr>
        <p:spPr>
          <a:xfrm>
            <a:off x="10497312" y="539496"/>
            <a:ext cx="128016" cy="128016"/>
          </a:xfrm>
          <a:prstGeom prst="ellipse">
            <a:avLst/>
          </a:prstGeom>
          <a:solidFill>
            <a:srgbClr val="F2A93B"/>
          </a:solidFill>
          <a:ln/>
        </p:spPr>
      </p:sp>
      <p:sp>
        <p:nvSpPr>
          <p:cNvPr id="9" name="Shape 7"/>
          <p:cNvSpPr/>
          <p:nvPr/>
        </p:nvSpPr>
        <p:spPr>
          <a:xfrm>
            <a:off x="640080" y="1417320"/>
            <a:ext cx="457200" cy="457200"/>
          </a:xfrm>
          <a:prstGeom prst="roundRect">
            <a:avLst>
              <a:gd name="adj" fmla="val 20000"/>
            </a:avLst>
          </a:prstGeom>
          <a:solidFill>
            <a:srgbClr val="F2A93B"/>
          </a:solidFill>
          <a:ln/>
        </p:spPr>
      </p:sp>
      <p:sp>
        <p:nvSpPr>
          <p:cNvPr id="10" name="Text 8"/>
          <p:cNvSpPr txBox="1"/>
          <p:nvPr/>
        </p:nvSpPr>
        <p:spPr>
          <a:xfrm>
            <a:off x="1325880" y="1371600"/>
            <a:ext cx="2834640" cy="5943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Agent mode</a:t>
            </a:r>
            <a:endParaRPr lang="en-US" sz="1500" dirty="0"/>
          </a:p>
        </p:txBody>
      </p:sp>
      <p:sp>
        <p:nvSpPr>
          <p:cNvPr id="11" name="Text 9"/>
          <p:cNvSpPr txBox="1"/>
          <p:nvPr/>
        </p:nvSpPr>
        <p:spPr>
          <a:xfrm>
            <a:off x="4343400" y="1371600"/>
            <a:ext cx="7178040" cy="822960"/>
          </a:xfrm>
          <a:prstGeom prst="rect">
            <a:avLst/>
          </a:prstGeom>
          <a:noFill/>
          <a:ln/>
        </p:spPr>
        <p:txBody>
          <a:bodyPr wrap="square" lIns="0" tIns="0" rIns="0" bIns="0" rtlCol="0" anchor="t"/>
          <a:lstStyle/>
          <a:p>
            <a:pPr indent="0" marL="0">
              <a:buNone/>
            </a:pPr>
            <a:r>
              <a:rPr lang="en-US" sz="1300" dirty="0">
                <a:solidFill>
                  <a:srgbClr val="1A1A2E"/>
                </a:solidFill>
                <a:latin typeface="Calibri" pitchFamily="34" charset="0"/>
                <a:ea typeface="Calibri" pitchFamily="34" charset="-122"/>
                <a:cs typeface="Calibri" pitchFamily="34" charset="-120"/>
              </a:rPr>
              <a:t>The orchestrator plans and dispatches work to six specialist subagents instead of running one monolithic script.</a:t>
            </a:r>
            <a:endParaRPr lang="en-US" sz="1300" dirty="0"/>
          </a:p>
        </p:txBody>
      </p:sp>
      <p:sp>
        <p:nvSpPr>
          <p:cNvPr id="12" name="Shape 10"/>
          <p:cNvSpPr/>
          <p:nvPr/>
        </p:nvSpPr>
        <p:spPr>
          <a:xfrm>
            <a:off x="640080" y="2587752"/>
            <a:ext cx="457200" cy="457200"/>
          </a:xfrm>
          <a:prstGeom prst="roundRect">
            <a:avLst>
              <a:gd name="adj" fmla="val 20000"/>
            </a:avLst>
          </a:prstGeom>
          <a:solidFill>
            <a:srgbClr val="F2A93B"/>
          </a:solidFill>
          <a:ln/>
        </p:spPr>
      </p:sp>
      <p:sp>
        <p:nvSpPr>
          <p:cNvPr id="13" name="Text 11"/>
          <p:cNvSpPr txBox="1"/>
          <p:nvPr/>
        </p:nvSpPr>
        <p:spPr>
          <a:xfrm>
            <a:off x="1325880" y="2542032"/>
            <a:ext cx="2834640" cy="5943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Parallel tasks &amp; subagents</a:t>
            </a:r>
            <a:endParaRPr lang="en-US" sz="1500" dirty="0"/>
          </a:p>
        </p:txBody>
      </p:sp>
      <p:sp>
        <p:nvSpPr>
          <p:cNvPr id="14" name="Text 12"/>
          <p:cNvSpPr txBox="1"/>
          <p:nvPr/>
        </p:nvSpPr>
        <p:spPr>
          <a:xfrm>
            <a:off x="4343400" y="2542032"/>
            <a:ext cx="7178040" cy="822960"/>
          </a:xfrm>
          <a:prstGeom prst="rect">
            <a:avLst/>
          </a:prstGeom>
          <a:noFill/>
          <a:ln/>
        </p:spPr>
        <p:txBody>
          <a:bodyPr wrap="square" lIns="0" tIns="0" rIns="0" bIns="0" rtlCol="0" anchor="t"/>
          <a:lstStyle/>
          <a:p>
            <a:pPr indent="0" marL="0">
              <a:buNone/>
            </a:pPr>
            <a:r>
              <a:rPr lang="en-US" sz="1300" dirty="0">
                <a:solidFill>
                  <a:srgbClr val="1A1A2E"/>
                </a:solidFill>
                <a:latin typeface="Calibri" pitchFamily="34" charset="0"/>
                <a:ea typeface="Calibri" pitchFamily="34" charset="-122"/>
                <a:cs typeface="Calibri" pitchFamily="34" charset="-120"/>
              </a:rPr>
              <a:t>All six execute concurrently and are cross-checked against each other, not just concatenated into one report.</a:t>
            </a:r>
            <a:endParaRPr lang="en-US" sz="1300" dirty="0"/>
          </a:p>
        </p:txBody>
      </p:sp>
      <p:sp>
        <p:nvSpPr>
          <p:cNvPr id="15" name="Shape 13"/>
          <p:cNvSpPr/>
          <p:nvPr/>
        </p:nvSpPr>
        <p:spPr>
          <a:xfrm>
            <a:off x="640080" y="3758184"/>
            <a:ext cx="457200" cy="457200"/>
          </a:xfrm>
          <a:prstGeom prst="roundRect">
            <a:avLst>
              <a:gd name="adj" fmla="val 20000"/>
            </a:avLst>
          </a:prstGeom>
          <a:solidFill>
            <a:srgbClr val="F2A93B"/>
          </a:solidFill>
          <a:ln/>
        </p:spPr>
      </p:sp>
      <p:sp>
        <p:nvSpPr>
          <p:cNvPr id="16" name="Text 14"/>
          <p:cNvSpPr txBox="1"/>
          <p:nvPr/>
        </p:nvSpPr>
        <p:spPr>
          <a:xfrm>
            <a:off x="1325880" y="3712464"/>
            <a:ext cx="2834640" cy="5943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Document understanding</a:t>
            </a:r>
            <a:endParaRPr lang="en-US" sz="1500" dirty="0"/>
          </a:p>
        </p:txBody>
      </p:sp>
      <p:sp>
        <p:nvSpPr>
          <p:cNvPr id="17" name="Text 15"/>
          <p:cNvSpPr txBox="1"/>
          <p:nvPr/>
        </p:nvSpPr>
        <p:spPr>
          <a:xfrm>
            <a:off x="4343400" y="3712464"/>
            <a:ext cx="7178040" cy="822960"/>
          </a:xfrm>
          <a:prstGeom prst="rect">
            <a:avLst/>
          </a:prstGeom>
          <a:noFill/>
          <a:ln/>
        </p:spPr>
        <p:txBody>
          <a:bodyPr wrap="square" lIns="0" tIns="0" rIns="0" bIns="0" rtlCol="0" anchor="t"/>
          <a:lstStyle/>
          <a:p>
            <a:pPr indent="0" marL="0">
              <a:buNone/>
            </a:pPr>
            <a:r>
              <a:rPr lang="en-US" sz="1300" dirty="0">
                <a:solidFill>
                  <a:srgbClr val="1A1A2E"/>
                </a:solidFill>
                <a:latin typeface="Calibri" pitchFamily="34" charset="0"/>
                <a:ea typeface="Calibri" pitchFamily="34" charset="-122"/>
                <a:cs typeface="Calibri" pitchFamily="34" charset="-120"/>
              </a:rPr>
              <a:t>The onboarding agent reads source at the AST level for an accurate module map; the release agent reads the changelog to draft notes.</a:t>
            </a:r>
            <a:endParaRPr lang="en-US" sz="1300" dirty="0"/>
          </a:p>
        </p:txBody>
      </p:sp>
      <p:sp>
        <p:nvSpPr>
          <p:cNvPr id="18" name="Shape 16"/>
          <p:cNvSpPr/>
          <p:nvPr/>
        </p:nvSpPr>
        <p:spPr>
          <a:xfrm>
            <a:off x="640080" y="4928616"/>
            <a:ext cx="457200" cy="457200"/>
          </a:xfrm>
          <a:prstGeom prst="roundRect">
            <a:avLst>
              <a:gd name="adj" fmla="val 20000"/>
            </a:avLst>
          </a:prstGeom>
          <a:solidFill>
            <a:srgbClr val="F2A93B"/>
          </a:solidFill>
          <a:ln/>
        </p:spPr>
      </p:sp>
      <p:sp>
        <p:nvSpPr>
          <p:cNvPr id="19" name="Text 17"/>
          <p:cNvSpPr txBox="1"/>
          <p:nvPr/>
        </p:nvSpPr>
        <p:spPr>
          <a:xfrm>
            <a:off x="1325880" y="4882896"/>
            <a:ext cx="2834640" cy="59436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Full-workflow coverage</a:t>
            </a:r>
            <a:endParaRPr lang="en-US" sz="1500" dirty="0"/>
          </a:p>
        </p:txBody>
      </p:sp>
      <p:sp>
        <p:nvSpPr>
          <p:cNvPr id="20" name="Text 18"/>
          <p:cNvSpPr txBox="1"/>
          <p:nvPr/>
        </p:nvSpPr>
        <p:spPr>
          <a:xfrm>
            <a:off x="4343400" y="4882896"/>
            <a:ext cx="7178040" cy="822960"/>
          </a:xfrm>
          <a:prstGeom prst="rect">
            <a:avLst/>
          </a:prstGeom>
          <a:noFill/>
          <a:ln/>
        </p:spPr>
        <p:txBody>
          <a:bodyPr wrap="square" lIns="0" tIns="0" rIns="0" bIns="0" rtlCol="0" anchor="t"/>
          <a:lstStyle/>
          <a:p>
            <a:pPr indent="0" marL="0">
              <a:buNone/>
            </a:pPr>
            <a:r>
              <a:rPr lang="en-US" sz="1300" dirty="0">
                <a:solidFill>
                  <a:srgbClr val="1A1A2E"/>
                </a:solidFill>
                <a:latin typeface="Calibri" pitchFamily="34" charset="0"/>
                <a:ea typeface="Calibri" pitchFamily="34" charset="-122"/>
                <a:cs typeface="Calibri" pitchFamily="34" charset="-120"/>
              </a:rPr>
              <a:t>All 5 example use cases from the brief, end-to-end, not one autocomplete-style suggestion -- proven on a real GitHub repo, not just a demo.</a:t>
            </a:r>
            <a:endParaRPr lang="en-US" sz="1300" dirty="0"/>
          </a:p>
        </p:txBody>
      </p:sp>
      <p:sp>
        <p:nvSpPr>
          <p:cNvPr id="21" name="Text 19"/>
          <p:cNvSpPr txBox="1"/>
          <p:nvPr/>
        </p:nvSpPr>
        <p:spPr>
          <a:xfrm>
            <a:off x="548640" y="6528816"/>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DevPilot — IBM Bob 2.0 Hackathon</a:t>
            </a:r>
            <a:endParaRPr lang="en-US" sz="1000" dirty="0"/>
          </a:p>
        </p:txBody>
      </p:sp>
      <p:sp>
        <p:nvSpPr>
          <p:cNvPr id="22" name="Text 20"/>
          <p:cNvSpPr txBox="1"/>
          <p:nvPr/>
        </p:nvSpPr>
        <p:spPr>
          <a:xfrm>
            <a:off x="11521440" y="6528816"/>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28016"/>
            <a:ext cx="7315200" cy="274320"/>
          </a:xfrm>
          <a:prstGeom prst="rect">
            <a:avLst/>
          </a:prstGeom>
          <a:noFill/>
          <a:ln/>
        </p:spPr>
        <p:txBody>
          <a:bodyPr wrap="square" lIns="0" tIns="0" rIns="0" bIns="0"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WHAT'S NEXT</a:t>
            </a:r>
            <a:endParaRPr lang="en-US" sz="1200" dirty="0"/>
          </a:p>
        </p:txBody>
      </p:sp>
      <p:sp>
        <p:nvSpPr>
          <p:cNvPr id="3" name="Text 1"/>
          <p:cNvSpPr txBox="1"/>
          <p:nvPr/>
        </p:nvSpPr>
        <p:spPr>
          <a:xfrm>
            <a:off x="548640" y="384048"/>
            <a:ext cx="969264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From hackathon prototype to a CI-grade pipeline</a:t>
            </a:r>
            <a:endParaRPr lang="en-US" sz="3000" dirty="0"/>
          </a:p>
        </p:txBody>
      </p:sp>
      <p:sp>
        <p:nvSpPr>
          <p:cNvPr id="4" name="Shape 2"/>
          <p:cNvSpPr/>
          <p:nvPr/>
        </p:nvSpPr>
        <p:spPr>
          <a:xfrm>
            <a:off x="10268712" y="301752"/>
            <a:ext cx="82296" cy="82296"/>
          </a:xfrm>
          <a:prstGeom prst="ellipse">
            <a:avLst/>
          </a:prstGeom>
          <a:solidFill>
            <a:srgbClr val="CADCFC"/>
          </a:solidFill>
          <a:ln/>
        </p:spPr>
      </p:sp>
      <p:sp>
        <p:nvSpPr>
          <p:cNvPr id="5" name="Shape 3"/>
          <p:cNvSpPr/>
          <p:nvPr/>
        </p:nvSpPr>
        <p:spPr>
          <a:xfrm>
            <a:off x="10460736" y="210312"/>
            <a:ext cx="82296" cy="82296"/>
          </a:xfrm>
          <a:prstGeom prst="ellipse">
            <a:avLst/>
          </a:prstGeom>
          <a:solidFill>
            <a:srgbClr val="CADCFC"/>
          </a:solidFill>
          <a:ln/>
        </p:spPr>
      </p:sp>
      <p:sp>
        <p:nvSpPr>
          <p:cNvPr id="6" name="Shape 4"/>
          <p:cNvSpPr/>
          <p:nvPr/>
        </p:nvSpPr>
        <p:spPr>
          <a:xfrm>
            <a:off x="10661904" y="210312"/>
            <a:ext cx="82296" cy="82296"/>
          </a:xfrm>
          <a:prstGeom prst="ellipse">
            <a:avLst/>
          </a:prstGeom>
          <a:solidFill>
            <a:srgbClr val="CADCFC"/>
          </a:solidFill>
          <a:ln/>
        </p:spPr>
      </p:sp>
      <p:sp>
        <p:nvSpPr>
          <p:cNvPr id="7" name="Shape 5"/>
          <p:cNvSpPr/>
          <p:nvPr/>
        </p:nvSpPr>
        <p:spPr>
          <a:xfrm>
            <a:off x="10853928" y="301752"/>
            <a:ext cx="82296" cy="82296"/>
          </a:xfrm>
          <a:prstGeom prst="ellipse">
            <a:avLst/>
          </a:prstGeom>
          <a:solidFill>
            <a:srgbClr val="CADCFC"/>
          </a:solidFill>
          <a:ln/>
        </p:spPr>
      </p:sp>
      <p:sp>
        <p:nvSpPr>
          <p:cNvPr id="8" name="Shape 6"/>
          <p:cNvSpPr/>
          <p:nvPr/>
        </p:nvSpPr>
        <p:spPr>
          <a:xfrm>
            <a:off x="10497312" y="539496"/>
            <a:ext cx="128016" cy="128016"/>
          </a:xfrm>
          <a:prstGeom prst="ellipse">
            <a:avLst/>
          </a:prstGeom>
          <a:solidFill>
            <a:srgbClr val="F2A93B"/>
          </a:solidFill>
          <a:ln/>
        </p:spPr>
      </p:sp>
      <p:sp>
        <p:nvSpPr>
          <p:cNvPr id="9" name="Shape 7"/>
          <p:cNvSpPr/>
          <p:nvPr/>
        </p:nvSpPr>
        <p:spPr>
          <a:xfrm>
            <a:off x="1549908" y="1691640"/>
            <a:ext cx="512064" cy="512064"/>
          </a:xfrm>
          <a:prstGeom prst="ellipse">
            <a:avLst/>
          </a:prstGeom>
          <a:solidFill>
            <a:srgbClr val="1E2761"/>
          </a:solidFill>
          <a:ln/>
        </p:spPr>
      </p:sp>
      <p:sp>
        <p:nvSpPr>
          <p:cNvPr id="10" name="Text 8"/>
          <p:cNvSpPr txBox="1"/>
          <p:nvPr/>
        </p:nvSpPr>
        <p:spPr>
          <a:xfrm>
            <a:off x="1549908" y="169164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1" name="Shape 9"/>
          <p:cNvSpPr/>
          <p:nvPr/>
        </p:nvSpPr>
        <p:spPr>
          <a:xfrm>
            <a:off x="2061972" y="1947672"/>
            <a:ext cx="2231136" cy="0"/>
          </a:xfrm>
          <a:prstGeom prst="line">
            <a:avLst/>
          </a:prstGeom>
          <a:noFill/>
          <a:ln w="25400">
            <a:solidFill>
              <a:srgbClr val="CADCFC"/>
            </a:solidFill>
            <a:prstDash val="dash"/>
          </a:ln>
        </p:spPr>
      </p:sp>
      <p:sp>
        <p:nvSpPr>
          <p:cNvPr id="12" name="Shape 10"/>
          <p:cNvSpPr/>
          <p:nvPr/>
        </p:nvSpPr>
        <p:spPr>
          <a:xfrm>
            <a:off x="548640" y="2377440"/>
            <a:ext cx="2514600" cy="1737360"/>
          </a:xfrm>
          <a:prstGeom prst="roundRect">
            <a:avLst>
              <a:gd name="adj" fmla="val 4211"/>
            </a:avLst>
          </a:prstGeom>
          <a:solidFill>
            <a:srgbClr val="F4F6FB"/>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13" name="Text 11"/>
          <p:cNvSpPr txBox="1"/>
          <p:nvPr/>
        </p:nvSpPr>
        <p:spPr>
          <a:xfrm>
            <a:off x="731520" y="2560320"/>
            <a:ext cx="2148840" cy="36576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Confirm the PR</a:t>
            </a:r>
            <a:endParaRPr lang="en-US" sz="1400" dirty="0"/>
          </a:p>
        </p:txBody>
      </p:sp>
      <p:sp>
        <p:nvSpPr>
          <p:cNvPr id="14" name="Text 12"/>
          <p:cNvSpPr txBox="1"/>
          <p:nvPr/>
        </p:nvSpPr>
        <p:spPr>
          <a:xfrm>
            <a:off x="731520" y="2971800"/>
            <a:ext cx="2148840" cy="1005840"/>
          </a:xfrm>
          <a:prstGeom prst="rect">
            <a:avLst/>
          </a:prstGeom>
          <a:noFill/>
          <a:ln/>
        </p:spPr>
        <p:txBody>
          <a:bodyPr wrap="square" lIns="0" tIns="0" rIns="0" bIns="0" rtlCol="0" anchor="t"/>
          <a:lstStyle/>
          <a:p>
            <a:pPr indent="0" marL="0">
              <a:buNone/>
            </a:pPr>
            <a:r>
              <a:rPr lang="en-US" sz="1080" dirty="0">
                <a:solidFill>
                  <a:srgbClr val="5B6B8C"/>
                </a:solidFill>
                <a:latin typeface="Calibri" pitchFamily="34" charset="0"/>
                <a:ea typeface="Calibri" pitchFamily="34" charset="-122"/>
                <a:cs typeface="Calibri" pitchFamily="34" charset="-120"/>
              </a:rPr>
              <a:t>push_and_pr.py is built -- user confirms + supplies their own GitHub token, then it opens.</a:t>
            </a:r>
            <a:endParaRPr lang="en-US" sz="1080" dirty="0"/>
          </a:p>
        </p:txBody>
      </p:sp>
      <p:sp>
        <p:nvSpPr>
          <p:cNvPr id="15" name="Shape 13"/>
          <p:cNvSpPr/>
          <p:nvPr/>
        </p:nvSpPr>
        <p:spPr>
          <a:xfrm>
            <a:off x="4293108" y="1691640"/>
            <a:ext cx="512064" cy="512064"/>
          </a:xfrm>
          <a:prstGeom prst="ellipse">
            <a:avLst/>
          </a:prstGeom>
          <a:solidFill>
            <a:srgbClr val="1E2761"/>
          </a:solidFill>
          <a:ln/>
        </p:spPr>
      </p:sp>
      <p:sp>
        <p:nvSpPr>
          <p:cNvPr id="16" name="Text 14"/>
          <p:cNvSpPr txBox="1"/>
          <p:nvPr/>
        </p:nvSpPr>
        <p:spPr>
          <a:xfrm>
            <a:off x="4293108" y="169164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7" name="Shape 15"/>
          <p:cNvSpPr/>
          <p:nvPr/>
        </p:nvSpPr>
        <p:spPr>
          <a:xfrm>
            <a:off x="4805172" y="1947672"/>
            <a:ext cx="2231136" cy="0"/>
          </a:xfrm>
          <a:prstGeom prst="line">
            <a:avLst/>
          </a:prstGeom>
          <a:noFill/>
          <a:ln w="25400">
            <a:solidFill>
              <a:srgbClr val="CADCFC"/>
            </a:solidFill>
            <a:prstDash val="dash"/>
          </a:ln>
        </p:spPr>
      </p:sp>
      <p:sp>
        <p:nvSpPr>
          <p:cNvPr id="18" name="Shape 16"/>
          <p:cNvSpPr/>
          <p:nvPr/>
        </p:nvSpPr>
        <p:spPr>
          <a:xfrm>
            <a:off x="3291840" y="2377440"/>
            <a:ext cx="2514600" cy="1737360"/>
          </a:xfrm>
          <a:prstGeom prst="roundRect">
            <a:avLst>
              <a:gd name="adj" fmla="val 4211"/>
            </a:avLst>
          </a:prstGeom>
          <a:solidFill>
            <a:srgbClr val="F4F6FB"/>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19" name="Text 17"/>
          <p:cNvSpPr txBox="1"/>
          <p:nvPr/>
        </p:nvSpPr>
        <p:spPr>
          <a:xfrm>
            <a:off x="3474720" y="2560320"/>
            <a:ext cx="2148840" cy="36576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Go live on watsonx.ai</a:t>
            </a:r>
            <a:endParaRPr lang="en-US" sz="1400" dirty="0"/>
          </a:p>
        </p:txBody>
      </p:sp>
      <p:sp>
        <p:nvSpPr>
          <p:cNvPr id="20" name="Text 18"/>
          <p:cNvSpPr txBox="1"/>
          <p:nvPr/>
        </p:nvSpPr>
        <p:spPr>
          <a:xfrm>
            <a:off x="3474720" y="2971800"/>
            <a:ext cx="2148840" cy="1005840"/>
          </a:xfrm>
          <a:prstGeom prst="rect">
            <a:avLst/>
          </a:prstGeom>
          <a:noFill/>
          <a:ln/>
        </p:spPr>
        <p:txBody>
          <a:bodyPr wrap="square" lIns="0" tIns="0" rIns="0" bIns="0" rtlCol="0" anchor="t"/>
          <a:lstStyle/>
          <a:p>
            <a:pPr indent="0" marL="0">
              <a:buNone/>
            </a:pPr>
            <a:r>
              <a:rPr lang="en-US" sz="1080" dirty="0">
                <a:solidFill>
                  <a:srgbClr val="5B6B8C"/>
                </a:solidFill>
                <a:latin typeface="Calibri" pitchFamily="34" charset="0"/>
                <a:ea typeface="Calibri" pitchFamily="34" charset="-122"/>
                <a:cs typeface="Calibri" pitchFamily="34" charset="-120"/>
              </a:rPr>
              <a:t>Client is built and tested against its fallback path; flip on once IBM Cloud Lite credits land.</a:t>
            </a:r>
            <a:endParaRPr lang="en-US" sz="1080" dirty="0"/>
          </a:p>
        </p:txBody>
      </p:sp>
      <p:sp>
        <p:nvSpPr>
          <p:cNvPr id="21" name="Shape 19"/>
          <p:cNvSpPr/>
          <p:nvPr/>
        </p:nvSpPr>
        <p:spPr>
          <a:xfrm>
            <a:off x="7036308" y="1691640"/>
            <a:ext cx="512064" cy="512064"/>
          </a:xfrm>
          <a:prstGeom prst="ellipse">
            <a:avLst/>
          </a:prstGeom>
          <a:solidFill>
            <a:srgbClr val="1E2761"/>
          </a:solidFill>
          <a:ln/>
        </p:spPr>
      </p:sp>
      <p:sp>
        <p:nvSpPr>
          <p:cNvPr id="22" name="Text 20"/>
          <p:cNvSpPr txBox="1"/>
          <p:nvPr/>
        </p:nvSpPr>
        <p:spPr>
          <a:xfrm>
            <a:off x="7036308" y="169164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3" name="Shape 21"/>
          <p:cNvSpPr/>
          <p:nvPr/>
        </p:nvSpPr>
        <p:spPr>
          <a:xfrm>
            <a:off x="7548372" y="1947672"/>
            <a:ext cx="2231136" cy="0"/>
          </a:xfrm>
          <a:prstGeom prst="line">
            <a:avLst/>
          </a:prstGeom>
          <a:noFill/>
          <a:ln w="25400">
            <a:solidFill>
              <a:srgbClr val="CADCFC"/>
            </a:solidFill>
            <a:prstDash val="dash"/>
          </a:ln>
        </p:spPr>
      </p:sp>
      <p:sp>
        <p:nvSpPr>
          <p:cNvPr id="24" name="Shape 22"/>
          <p:cNvSpPr/>
          <p:nvPr/>
        </p:nvSpPr>
        <p:spPr>
          <a:xfrm>
            <a:off x="6035040" y="2377440"/>
            <a:ext cx="2514600" cy="1737360"/>
          </a:xfrm>
          <a:prstGeom prst="roundRect">
            <a:avLst>
              <a:gd name="adj" fmla="val 4211"/>
            </a:avLst>
          </a:prstGeom>
          <a:solidFill>
            <a:srgbClr val="F4F6FB"/>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25" name="Text 23"/>
          <p:cNvSpPr txBox="1"/>
          <p:nvPr/>
        </p:nvSpPr>
        <p:spPr>
          <a:xfrm>
            <a:off x="6217920" y="2560320"/>
            <a:ext cx="2148840" cy="36576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Live advisories</a:t>
            </a:r>
            <a:endParaRPr lang="en-US" sz="1400" dirty="0"/>
          </a:p>
        </p:txBody>
      </p:sp>
      <p:sp>
        <p:nvSpPr>
          <p:cNvPr id="26" name="Text 24"/>
          <p:cNvSpPr txBox="1"/>
          <p:nvPr/>
        </p:nvSpPr>
        <p:spPr>
          <a:xfrm>
            <a:off x="6217920" y="2971800"/>
            <a:ext cx="2148840" cy="1005840"/>
          </a:xfrm>
          <a:prstGeom prst="rect">
            <a:avLst/>
          </a:prstGeom>
          <a:noFill/>
          <a:ln/>
        </p:spPr>
        <p:txBody>
          <a:bodyPr wrap="square" lIns="0" tIns="0" rIns="0" bIns="0" rtlCol="0" anchor="t"/>
          <a:lstStyle/>
          <a:p>
            <a:pPr indent="0" marL="0">
              <a:buNone/>
            </a:pPr>
            <a:r>
              <a:rPr lang="en-US" sz="1080" dirty="0">
                <a:solidFill>
                  <a:srgbClr val="5B6B8C"/>
                </a:solidFill>
                <a:latin typeface="Calibri" pitchFamily="34" charset="0"/>
                <a:ea typeface="Calibri" pitchFamily="34" charset="-122"/>
                <a:cs typeface="Calibri" pitchFamily="34" charset="-120"/>
              </a:rPr>
              <a:t>Replace the illustrative dependency table with a real CVE/SBOM feed.</a:t>
            </a:r>
            <a:endParaRPr lang="en-US" sz="1080" dirty="0"/>
          </a:p>
        </p:txBody>
      </p:sp>
      <p:sp>
        <p:nvSpPr>
          <p:cNvPr id="27" name="Shape 25"/>
          <p:cNvSpPr/>
          <p:nvPr/>
        </p:nvSpPr>
        <p:spPr>
          <a:xfrm>
            <a:off x="9779508" y="1691640"/>
            <a:ext cx="512064" cy="512064"/>
          </a:xfrm>
          <a:prstGeom prst="ellipse">
            <a:avLst/>
          </a:prstGeom>
          <a:solidFill>
            <a:srgbClr val="1E2761"/>
          </a:solidFill>
          <a:ln/>
        </p:spPr>
      </p:sp>
      <p:sp>
        <p:nvSpPr>
          <p:cNvPr id="28" name="Text 26"/>
          <p:cNvSpPr txBox="1"/>
          <p:nvPr/>
        </p:nvSpPr>
        <p:spPr>
          <a:xfrm>
            <a:off x="9779508" y="169164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9" name="Shape 27"/>
          <p:cNvSpPr/>
          <p:nvPr/>
        </p:nvSpPr>
        <p:spPr>
          <a:xfrm>
            <a:off x="8778240" y="2377440"/>
            <a:ext cx="2514600" cy="1737360"/>
          </a:xfrm>
          <a:prstGeom prst="roundRect">
            <a:avLst>
              <a:gd name="adj" fmla="val 4211"/>
            </a:avLst>
          </a:prstGeom>
          <a:solidFill>
            <a:srgbClr val="F4F6FB"/>
          </a:solidFill>
          <a:ln w="12700">
            <a:solidFill>
              <a:srgbClr val="DCE3F2"/>
            </a:solidFill>
            <a:prstDash val="solid"/>
          </a:ln>
          <a:effectLst>
            <a:outerShdw sx="100000" sy="100000" kx="0" ky="0" algn="bl" rotWithShape="0" blurRad="101600" dist="38100" dir="5400000">
              <a:srgbClr val="1E2761">
                <a:alpha val="12000"/>
              </a:srgbClr>
            </a:outerShdw>
          </a:effectLst>
        </p:spPr>
      </p:sp>
      <p:sp>
        <p:nvSpPr>
          <p:cNvPr id="30" name="Text 28"/>
          <p:cNvSpPr txBox="1"/>
          <p:nvPr/>
        </p:nvSpPr>
        <p:spPr>
          <a:xfrm>
            <a:off x="8961120" y="2560320"/>
            <a:ext cx="2148840" cy="36576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Trend tracking</a:t>
            </a:r>
            <a:endParaRPr lang="en-US" sz="1400" dirty="0"/>
          </a:p>
        </p:txBody>
      </p:sp>
      <p:sp>
        <p:nvSpPr>
          <p:cNvPr id="31" name="Text 29"/>
          <p:cNvSpPr txBox="1"/>
          <p:nvPr/>
        </p:nvSpPr>
        <p:spPr>
          <a:xfrm>
            <a:off x="8961120" y="2971800"/>
            <a:ext cx="2148840" cy="1005840"/>
          </a:xfrm>
          <a:prstGeom prst="rect">
            <a:avLst/>
          </a:prstGeom>
          <a:noFill/>
          <a:ln/>
        </p:spPr>
        <p:txBody>
          <a:bodyPr wrap="square" lIns="0" tIns="0" rIns="0" bIns="0" rtlCol="0" anchor="t"/>
          <a:lstStyle/>
          <a:p>
            <a:pPr indent="0" marL="0">
              <a:buNone/>
            </a:pPr>
            <a:r>
              <a:rPr lang="en-US" sz="1080" dirty="0">
                <a:solidFill>
                  <a:srgbClr val="5B6B8C"/>
                </a:solidFill>
                <a:latin typeface="Calibri" pitchFamily="34" charset="0"/>
                <a:ea typeface="Calibri" pitchFamily="34" charset="-122"/>
                <a:cs typeface="Calibri" pitchFamily="34" charset="-120"/>
              </a:rPr>
              <a:t>Persist reports so teams see coverage, confirmed-findings, and hours-saved trends over time.</a:t>
            </a:r>
            <a:endParaRPr lang="en-US" sz="1080" dirty="0"/>
          </a:p>
        </p:txBody>
      </p:sp>
      <p:sp>
        <p:nvSpPr>
          <p:cNvPr id="32" name="Text 30"/>
          <p:cNvSpPr txBox="1"/>
          <p:nvPr/>
        </p:nvSpPr>
        <p:spPr>
          <a:xfrm>
            <a:off x="548640" y="6528816"/>
            <a:ext cx="5486400" cy="274320"/>
          </a:xfrm>
          <a:prstGeom prst="rect">
            <a:avLst/>
          </a:prstGeom>
          <a:noFill/>
          <a:ln/>
        </p:spPr>
        <p:txBody>
          <a:bodyPr wrap="square" lIns="0" tIns="0" rIns="0" bIns="0" rtlCol="0" anchor="ctr"/>
          <a:lstStyle/>
          <a:p>
            <a:pPr indent="0" marL="0">
              <a:buNone/>
            </a:pPr>
            <a:r>
              <a:rPr lang="en-US" sz="1000" dirty="0">
                <a:solidFill>
                  <a:srgbClr val="5B6B8C"/>
                </a:solidFill>
                <a:latin typeface="Calibri" pitchFamily="34" charset="0"/>
                <a:ea typeface="Calibri" pitchFamily="34" charset="-122"/>
                <a:cs typeface="Calibri" pitchFamily="34" charset="-120"/>
              </a:rPr>
              <a:t>DevPilot — IBM Bob 2.0 Hackathon</a:t>
            </a:r>
            <a:endParaRPr lang="en-US" sz="1000" dirty="0"/>
          </a:p>
        </p:txBody>
      </p:sp>
      <p:sp>
        <p:nvSpPr>
          <p:cNvPr id="33" name="Text 31"/>
          <p:cNvSpPr txBox="1"/>
          <p:nvPr/>
        </p:nvSpPr>
        <p:spPr>
          <a:xfrm>
            <a:off x="11521440" y="6528816"/>
            <a:ext cx="457200" cy="274320"/>
          </a:xfrm>
          <a:prstGeom prst="rect">
            <a:avLst/>
          </a:prstGeom>
          <a:noFill/>
          <a:ln/>
        </p:spPr>
        <p:txBody>
          <a:bodyPr wrap="square" lIns="0" tIns="0" rIns="0" bIns="0" rtlCol="0" anchor="ctr"/>
          <a:lstStyle/>
          <a:p>
            <a:pPr algn="r" indent="0" marL="0">
              <a:buNone/>
            </a:pPr>
            <a:r>
              <a:rPr lang="en-US" sz="1000" dirty="0">
                <a:solidFill>
                  <a:srgbClr val="5B6B8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596128" y="2148840"/>
            <a:ext cx="164592" cy="164592"/>
          </a:xfrm>
          <a:prstGeom prst="ellipse">
            <a:avLst/>
          </a:prstGeom>
          <a:solidFill>
            <a:srgbClr val="2C3B85"/>
          </a:solidFill>
          <a:ln/>
        </p:spPr>
      </p:sp>
      <p:sp>
        <p:nvSpPr>
          <p:cNvPr id="3" name="Shape 1"/>
          <p:cNvSpPr/>
          <p:nvPr/>
        </p:nvSpPr>
        <p:spPr>
          <a:xfrm>
            <a:off x="5925312" y="1984248"/>
            <a:ext cx="164592" cy="164592"/>
          </a:xfrm>
          <a:prstGeom prst="ellipse">
            <a:avLst/>
          </a:prstGeom>
          <a:solidFill>
            <a:srgbClr val="2C3B85"/>
          </a:solidFill>
          <a:ln/>
        </p:spPr>
      </p:sp>
      <p:sp>
        <p:nvSpPr>
          <p:cNvPr id="4" name="Shape 2"/>
          <p:cNvSpPr/>
          <p:nvPr/>
        </p:nvSpPr>
        <p:spPr>
          <a:xfrm>
            <a:off x="6272784" y="1984248"/>
            <a:ext cx="164592" cy="164592"/>
          </a:xfrm>
          <a:prstGeom prst="ellipse">
            <a:avLst/>
          </a:prstGeom>
          <a:solidFill>
            <a:srgbClr val="2C3B85"/>
          </a:solidFill>
          <a:ln/>
        </p:spPr>
      </p:sp>
      <p:sp>
        <p:nvSpPr>
          <p:cNvPr id="5" name="Shape 3"/>
          <p:cNvSpPr/>
          <p:nvPr/>
        </p:nvSpPr>
        <p:spPr>
          <a:xfrm>
            <a:off x="6601968" y="2148840"/>
            <a:ext cx="164592" cy="164592"/>
          </a:xfrm>
          <a:prstGeom prst="ellipse">
            <a:avLst/>
          </a:prstGeom>
          <a:solidFill>
            <a:srgbClr val="2C3B85"/>
          </a:solidFill>
          <a:ln/>
        </p:spPr>
      </p:sp>
      <p:sp>
        <p:nvSpPr>
          <p:cNvPr id="6" name="Shape 4"/>
          <p:cNvSpPr/>
          <p:nvPr/>
        </p:nvSpPr>
        <p:spPr>
          <a:xfrm>
            <a:off x="5980176" y="2551176"/>
            <a:ext cx="237744" cy="237744"/>
          </a:xfrm>
          <a:prstGeom prst="ellipse">
            <a:avLst/>
          </a:prstGeom>
          <a:solidFill>
            <a:srgbClr val="F2A93B"/>
          </a:solidFill>
          <a:ln/>
        </p:spPr>
      </p:sp>
      <p:sp>
        <p:nvSpPr>
          <p:cNvPr id="7" name="Text 5"/>
          <p:cNvSpPr txBox="1"/>
          <p:nvPr/>
        </p:nvSpPr>
        <p:spPr>
          <a:xfrm>
            <a:off x="1097280" y="2880360"/>
            <a:ext cx="10058400" cy="1188720"/>
          </a:xfrm>
          <a:prstGeom prst="rect">
            <a:avLst/>
          </a:prstGeom>
          <a:noFill/>
          <a:ln/>
        </p:spPr>
        <p:txBody>
          <a:bodyPr wrap="square" lIns="0" tIns="0" rIns="0" bIns="0" rtlCol="0" anchor="ctr"/>
          <a:lstStyle/>
          <a:p>
            <a:pPr algn="ctr" indent="0" marL="0">
              <a:lnSpc>
                <a:spcPct val="115000"/>
              </a:lnSpc>
              <a:buNone/>
            </a:pPr>
            <a:r>
              <a:rPr lang="en-US" sz="2800" b="1" dirty="0">
                <a:solidFill>
                  <a:srgbClr val="FFFFFF"/>
                </a:solidFill>
                <a:latin typeface="Cambria" pitchFamily="34" charset="0"/>
                <a:ea typeface="Cambria" pitchFamily="34" charset="-122"/>
                <a:cs typeface="Cambria" pitchFamily="34" charset="-120"/>
              </a:rPr>
              <a:t>Five manual workflows.</a:t>
            </a:r>
            <a:endParaRPr lang="en-US" sz="2800" dirty="0"/>
          </a:p>
          <a:p>
            <a:pPr algn="ctr" indent="0" marL="0">
              <a:lnSpc>
                <a:spcPct val="115000"/>
              </a:lnSpc>
              <a:buNone/>
            </a:pPr>
            <a:r>
              <a:rPr lang="en-US" sz="2800" b="1" dirty="0">
                <a:solidFill>
                  <a:srgbClr val="FFFFFF"/>
                </a:solidFill>
                <a:latin typeface="Cambria" pitchFamily="34" charset="0"/>
                <a:ea typeface="Cambria" pitchFamily="34" charset="-122"/>
                <a:cs typeface="Cambria" pitchFamily="34" charset="-120"/>
              </a:rPr>
              <a:t>One parallel, self-verifying, cross-checked pipeline.</a:t>
            </a:r>
            <a:endParaRPr lang="en-US" sz="2800" dirty="0"/>
          </a:p>
        </p:txBody>
      </p:sp>
      <p:sp>
        <p:nvSpPr>
          <p:cNvPr id="8" name="Text 6"/>
          <p:cNvSpPr txBox="1"/>
          <p:nvPr/>
        </p:nvSpPr>
        <p:spPr>
          <a:xfrm>
            <a:off x="1097280" y="4206240"/>
            <a:ext cx="10058400" cy="457200"/>
          </a:xfrm>
          <a:prstGeom prst="rect">
            <a:avLst/>
          </a:prstGeom>
          <a:noFill/>
          <a:ln/>
        </p:spPr>
        <p:txBody>
          <a:bodyPr wrap="square" lIns="0" tIns="0" rIns="0" bIns="0" rtlCol="0" anchor="ctr"/>
          <a:lstStyle/>
          <a:p>
            <a:pPr algn="ctr" indent="0" marL="0">
              <a:buNone/>
            </a:pPr>
            <a:r>
              <a:rPr lang="en-US" sz="1400" i="1" dirty="0">
                <a:solidFill>
                  <a:srgbClr val="CADCFC"/>
                </a:solidFill>
                <a:latin typeface="Calibri" pitchFamily="34" charset="0"/>
                <a:ea typeface="Calibri" pitchFamily="34" charset="-122"/>
                <a:cs typeface="Calibri" pitchFamily="34" charset="-120"/>
              </a:rPr>
              <a:t>Proven on a seeded demo AND a real, unmodified GitHub repo — built end-to-end with IBM Bob 2.0</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2026-09-27T12:42:00Z</dcterms:created>
  <dcterms:modified xsi:type="dcterms:W3CDTF">2026-09-27T12:42:00Z</dcterms:modified>
</cp:coreProperties>
</file>